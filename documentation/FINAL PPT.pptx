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61" r:id="rId2"/>
    <p:sldId id="262" r:id="rId3"/>
    <p:sldId id="289" r:id="rId4"/>
    <p:sldId id="264" r:id="rId5"/>
    <p:sldId id="274" r:id="rId6"/>
    <p:sldId id="281" r:id="rId7"/>
    <p:sldId id="282" r:id="rId8"/>
    <p:sldId id="283" r:id="rId9"/>
    <p:sldId id="284" r:id="rId10"/>
    <p:sldId id="285" r:id="rId11"/>
    <p:sldId id="286" r:id="rId12"/>
    <p:sldId id="287" r:id="rId13"/>
    <p:sldId id="272" r:id="rId14"/>
    <p:sldId id="288" r:id="rId15"/>
    <p:sldId id="266"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221"/>
    <a:srgbClr val="000B5D"/>
    <a:srgbClr val="A9AAAE"/>
    <a:srgbClr val="1C2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8CF2CE-EE64-4CDB-8377-DD904FE759BF}" v="13" dt="2026-05-02T05:57:03.7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p:cViewPr varScale="1">
        <p:scale>
          <a:sx n="82" d="100"/>
          <a:sy n="82" d="100"/>
        </p:scale>
        <p:origin x="763" y="72"/>
      </p:cViewPr>
      <p:guideLst>
        <p:guide orient="horz" pos="2160"/>
        <p:guide pos="3840"/>
      </p:guideLst>
    </p:cSldViewPr>
  </p:slideViewPr>
  <p:notesTextViewPr>
    <p:cViewPr>
      <p:scale>
        <a:sx n="1" d="1"/>
        <a:sy n="1" d="1"/>
      </p:scale>
      <p:origin x="0" y="0"/>
    </p:cViewPr>
  </p:notesTextViewPr>
  <p:notesViewPr>
    <p:cSldViewPr snapToGrid="0">
      <p:cViewPr varScale="1">
        <p:scale>
          <a:sx n="49" d="100"/>
          <a:sy n="49" d="100"/>
        </p:scale>
        <p:origin x="2668"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atchaya navalar" userId="fed2ccb4491f70ba" providerId="LiveId" clId="{42BDCD4E-CFB1-4EA9-92EA-920996344887}"/>
    <pc:docChg chg="undo custSel addSld modSld">
      <pc:chgData name="sriatchaya navalar" userId="fed2ccb4491f70ba" providerId="LiveId" clId="{42BDCD4E-CFB1-4EA9-92EA-920996344887}" dt="2026-05-02T05:57:03.756" v="43" actId="1076"/>
      <pc:docMkLst>
        <pc:docMk/>
      </pc:docMkLst>
      <pc:sldChg chg="addSp delSp modSp new mod">
        <pc:chgData name="sriatchaya navalar" userId="fed2ccb4491f70ba" providerId="LiveId" clId="{42BDCD4E-CFB1-4EA9-92EA-920996344887}" dt="2026-05-02T05:57:03.756" v="43" actId="1076"/>
        <pc:sldMkLst>
          <pc:docMk/>
          <pc:sldMk cId="3823213929" sldId="289"/>
        </pc:sldMkLst>
        <pc:spChg chg="mod">
          <ac:chgData name="sriatchaya navalar" userId="fed2ccb4491f70ba" providerId="LiveId" clId="{42BDCD4E-CFB1-4EA9-92EA-920996344887}" dt="2026-05-02T05:56:45.222" v="41"/>
          <ac:spMkLst>
            <pc:docMk/>
            <pc:sldMk cId="3823213929" sldId="289"/>
            <ac:spMk id="2" creationId="{1B6473AB-0A8E-1111-9F42-1E1F741701E5}"/>
          </ac:spMkLst>
        </pc:spChg>
        <pc:spChg chg="del">
          <ac:chgData name="sriatchaya navalar" userId="fed2ccb4491f70ba" providerId="LiveId" clId="{42BDCD4E-CFB1-4EA9-92EA-920996344887}" dt="2026-05-02T05:55:34.513" v="31"/>
          <ac:spMkLst>
            <pc:docMk/>
            <pc:sldMk cId="3823213929" sldId="289"/>
            <ac:spMk id="3" creationId="{6B5E1BA3-B0A9-41CB-9325-7E01FA291FA8}"/>
          </ac:spMkLst>
        </pc:spChg>
        <pc:spChg chg="add mod">
          <ac:chgData name="sriatchaya navalar" userId="fed2ccb4491f70ba" providerId="LiveId" clId="{42BDCD4E-CFB1-4EA9-92EA-920996344887}" dt="2026-05-02T05:57:03.756" v="43" actId="1076"/>
          <ac:spMkLst>
            <pc:docMk/>
            <pc:sldMk cId="3823213929" sldId="289"/>
            <ac:spMk id="5" creationId="{8B736886-A691-8A52-A683-FE2AA0DE517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AB75AC-AF49-4E5B-A560-16323D9DA607}" type="slidenum">
              <a:rPr lang="en-IN" smtClean="0"/>
              <a:pPr/>
              <a:t>‹#›</a:t>
            </a:fld>
            <a:endParaRPr lang="en-IN"/>
          </a:p>
        </p:txBody>
      </p:sp>
      <p:sp>
        <p:nvSpPr>
          <p:cNvPr id="6" name="Date Placeholder 5"/>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67C219-92B9-46B0-9600-5ABBD917FA6F}" type="datetimeFigureOut">
              <a:rPr lang="en-IN" smtClean="0"/>
              <a:pPr/>
              <a:t>02-05-2026</a:t>
            </a:fld>
            <a:endParaRPr lang="en-IN"/>
          </a:p>
        </p:txBody>
      </p:sp>
    </p:spTree>
    <p:extLst>
      <p:ext uri="{BB962C8B-B14F-4D97-AF65-F5344CB8AC3E}">
        <p14:creationId xmlns:p14="http://schemas.microsoft.com/office/powerpoint/2010/main" val="21479095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0C4A3-E6F7-4730-A13D-A38DD671CDC4}" type="datetimeFigureOut">
              <a:rPr lang="en-IN" smtClean="0"/>
              <a:pPr/>
              <a:t>02-05-2026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363518-49CD-4027-8663-8EAA238F966E}" type="slidenum">
              <a:rPr lang="en-IN" smtClean="0"/>
              <a:pPr/>
              <a:t>‹#›</a:t>
            </a:fld>
            <a:endParaRPr lang="en-IN"/>
          </a:p>
        </p:txBody>
      </p:sp>
    </p:spTree>
    <p:extLst>
      <p:ext uri="{BB962C8B-B14F-4D97-AF65-F5344CB8AC3E}">
        <p14:creationId xmlns:p14="http://schemas.microsoft.com/office/powerpoint/2010/main" val="278112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04CF1FB-4DEE-4F62-9617-FD27B1C24529}"/>
              </a:ext>
            </a:extLst>
          </p:cNvPr>
          <p:cNvSpPr/>
          <p:nvPr userDrawn="1"/>
        </p:nvSpPr>
        <p:spPr>
          <a:xfrm>
            <a:off x="-1" y="6782413"/>
            <a:ext cx="9474201" cy="92222"/>
          </a:xfrm>
          <a:prstGeom prst="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itle 1">
            <a:extLst>
              <a:ext uri="{FF2B5EF4-FFF2-40B4-BE49-F238E27FC236}">
                <a16:creationId xmlns:a16="http://schemas.microsoft.com/office/drawing/2014/main" id="{8EC5D259-79CA-46AF-8EC7-393D34B6B418}"/>
              </a:ext>
            </a:extLst>
          </p:cNvPr>
          <p:cNvSpPr>
            <a:spLocks noGrp="1"/>
          </p:cNvSpPr>
          <p:nvPr>
            <p:ph type="ctrTitle" hasCustomPrompt="1"/>
          </p:nvPr>
        </p:nvSpPr>
        <p:spPr>
          <a:xfrm>
            <a:off x="773350" y="1191977"/>
            <a:ext cx="8143797" cy="575959"/>
          </a:xfrm>
        </p:spPr>
        <p:txBody>
          <a:bodyPr anchor="b">
            <a:noAutofit/>
          </a:bodyPr>
          <a:lstStyle>
            <a:lvl1pPr algn="l">
              <a:defRPr sz="3200" b="1">
                <a:solidFill>
                  <a:srgbClr val="000B5D"/>
                </a:solidFill>
                <a:latin typeface="Trebuchet MS" panose="020B0603020202020204" pitchFamily="34" charset="0"/>
              </a:defRPr>
            </a:lvl1pPr>
          </a:lstStyle>
          <a:p>
            <a:r>
              <a:rPr lang="en-US" dirty="0"/>
              <a:t>Click to add Master title style</a:t>
            </a:r>
            <a:endParaRPr lang="en-IN" dirty="0"/>
          </a:p>
        </p:txBody>
      </p:sp>
      <p:cxnSp>
        <p:nvCxnSpPr>
          <p:cNvPr id="19" name="Straight Connector 18"/>
          <p:cNvCxnSpPr/>
          <p:nvPr userDrawn="1"/>
        </p:nvCxnSpPr>
        <p:spPr>
          <a:xfrm>
            <a:off x="0" y="5936182"/>
            <a:ext cx="12192000" cy="0"/>
          </a:xfrm>
          <a:prstGeom prst="line">
            <a:avLst/>
          </a:prstGeom>
          <a:ln w="28575">
            <a:solidFill>
              <a:srgbClr val="A9AAAE"/>
            </a:solidFill>
          </a:ln>
        </p:spPr>
        <p:style>
          <a:lnRef idx="1">
            <a:schemeClr val="accent1"/>
          </a:lnRef>
          <a:fillRef idx="0">
            <a:schemeClr val="accent1"/>
          </a:fillRef>
          <a:effectRef idx="0">
            <a:schemeClr val="accent1"/>
          </a:effectRef>
          <a:fontRef idx="minor">
            <a:schemeClr val="tx1"/>
          </a:fontRef>
        </p:style>
      </p:cxnSp>
      <p:sp>
        <p:nvSpPr>
          <p:cNvPr id="36" name="Subtitle 2"/>
          <p:cNvSpPr txBox="1">
            <a:spLocks/>
          </p:cNvSpPr>
          <p:nvPr userDrawn="1"/>
        </p:nvSpPr>
        <p:spPr>
          <a:xfrm>
            <a:off x="4093030" y="4962228"/>
            <a:ext cx="6332680" cy="67716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200" b="1" dirty="0">
                <a:solidFill>
                  <a:schemeClr val="bg1"/>
                </a:solidFill>
              </a:rPr>
              <a:t>K.S.RANGASAMY</a:t>
            </a:r>
            <a:r>
              <a:rPr lang="en-US" sz="2200" b="1" baseline="0" dirty="0">
                <a:solidFill>
                  <a:schemeClr val="bg1"/>
                </a:solidFill>
              </a:rPr>
              <a:t> COLLEGE OF TECHNOLOGY </a:t>
            </a:r>
          </a:p>
          <a:p>
            <a:r>
              <a:rPr lang="en-US" sz="1800" b="1" baseline="0" dirty="0">
                <a:solidFill>
                  <a:schemeClr val="bg1"/>
                </a:solidFill>
              </a:rPr>
              <a:t>(Autonomous)</a:t>
            </a:r>
            <a:endParaRPr lang="en-IN" sz="1800" b="1" dirty="0">
              <a:solidFill>
                <a:schemeClr val="bg1"/>
              </a:solidFill>
            </a:endParaRPr>
          </a:p>
        </p:txBody>
      </p:sp>
      <p:sp>
        <p:nvSpPr>
          <p:cNvPr id="25" name="Subtitle 2">
            <a:extLst>
              <a:ext uri="{FF2B5EF4-FFF2-40B4-BE49-F238E27FC236}">
                <a16:creationId xmlns:a16="http://schemas.microsoft.com/office/drawing/2014/main" id="{40C63165-A391-4393-985D-7696AE760510}"/>
              </a:ext>
            </a:extLst>
          </p:cNvPr>
          <p:cNvSpPr txBox="1">
            <a:spLocks/>
          </p:cNvSpPr>
          <p:nvPr userDrawn="1"/>
        </p:nvSpPr>
        <p:spPr>
          <a:xfrm>
            <a:off x="4093030" y="6251947"/>
            <a:ext cx="1813963" cy="33661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www.ksrct.ac.in</a:t>
            </a:r>
            <a:endParaRPr lang="en-IN" sz="1600" b="0" dirty="0">
              <a:solidFill>
                <a:schemeClr val="bg1"/>
              </a:solidFill>
            </a:endParaRPr>
          </a:p>
        </p:txBody>
      </p:sp>
      <p:sp>
        <p:nvSpPr>
          <p:cNvPr id="15" name="Rectangle 14">
            <a:extLst>
              <a:ext uri="{FF2B5EF4-FFF2-40B4-BE49-F238E27FC236}">
                <a16:creationId xmlns:a16="http://schemas.microsoft.com/office/drawing/2014/main" id="{C27E51A7-A4B6-4A3C-906D-6FB9399730FF}"/>
              </a:ext>
            </a:extLst>
          </p:cNvPr>
          <p:cNvSpPr/>
          <p:nvPr userDrawn="1"/>
        </p:nvSpPr>
        <p:spPr>
          <a:xfrm>
            <a:off x="9474201" y="0"/>
            <a:ext cx="2717800" cy="6858000"/>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43C49E6-4F34-4172-8C76-11DA24DEF408}"/>
              </a:ext>
            </a:extLst>
          </p:cNvPr>
          <p:cNvSpPr>
            <a:spLocks noChangeAspect="1"/>
          </p:cNvSpPr>
          <p:nvPr userDrawn="1"/>
        </p:nvSpPr>
        <p:spPr>
          <a:xfrm>
            <a:off x="8430612" y="2385911"/>
            <a:ext cx="2086179" cy="2086179"/>
          </a:xfrm>
          <a:prstGeom prst="ellipse">
            <a:avLst/>
          </a:prstGeom>
          <a:solidFill>
            <a:schemeClr val="bg1"/>
          </a:solidFill>
          <a:ln w="28575">
            <a:solidFill>
              <a:srgbClr val="F382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356F116E-5D05-462E-A9C8-9992B70868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6756" r="26334" b="50687"/>
          <a:stretch/>
        </p:blipFill>
        <p:spPr>
          <a:xfrm>
            <a:off x="8616099" y="2643517"/>
            <a:ext cx="1744539" cy="1570967"/>
          </a:xfrm>
          <a:prstGeom prst="rect">
            <a:avLst/>
          </a:prstGeom>
        </p:spPr>
      </p:pic>
      <p:sp>
        <p:nvSpPr>
          <p:cNvPr id="17" name="Subtitle 2">
            <a:extLst>
              <a:ext uri="{FF2B5EF4-FFF2-40B4-BE49-F238E27FC236}">
                <a16:creationId xmlns:a16="http://schemas.microsoft.com/office/drawing/2014/main" id="{3B4A3536-71CD-4F93-91E3-12467C39525D}"/>
              </a:ext>
            </a:extLst>
          </p:cNvPr>
          <p:cNvSpPr txBox="1">
            <a:spLocks/>
          </p:cNvSpPr>
          <p:nvPr userDrawn="1"/>
        </p:nvSpPr>
        <p:spPr>
          <a:xfrm>
            <a:off x="573406" y="6204556"/>
            <a:ext cx="2197709" cy="346298"/>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solidFill>
                  <a:srgbClr val="1C2A5F"/>
                </a:solidFill>
              </a:rPr>
              <a:t>www.ksrct.ac.in</a:t>
            </a:r>
            <a:endParaRPr lang="en-IN" sz="2000" b="1" dirty="0">
              <a:solidFill>
                <a:srgbClr val="1C2A5F"/>
              </a:solidFill>
            </a:endParaRPr>
          </a:p>
        </p:txBody>
      </p:sp>
      <p:sp>
        <p:nvSpPr>
          <p:cNvPr id="20" name="Subtitle 2">
            <a:extLst>
              <a:ext uri="{FF2B5EF4-FFF2-40B4-BE49-F238E27FC236}">
                <a16:creationId xmlns:a16="http://schemas.microsoft.com/office/drawing/2014/main" id="{D021A7B8-5FA3-4F5E-87B4-122CFDC24F92}"/>
              </a:ext>
            </a:extLst>
          </p:cNvPr>
          <p:cNvSpPr txBox="1">
            <a:spLocks/>
          </p:cNvSpPr>
          <p:nvPr userDrawn="1"/>
        </p:nvSpPr>
        <p:spPr>
          <a:xfrm>
            <a:off x="431599" y="4595242"/>
            <a:ext cx="7726882" cy="83159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1" dirty="0">
                <a:solidFill>
                  <a:srgbClr val="1C2A5F"/>
                </a:solidFill>
              </a:rPr>
              <a:t>K.S.RANGASAMY</a:t>
            </a:r>
            <a:r>
              <a:rPr lang="en-US" sz="2400" b="1" baseline="0" dirty="0">
                <a:solidFill>
                  <a:srgbClr val="1C2A5F"/>
                </a:solidFill>
              </a:rPr>
              <a:t> COLLEGE OF TECHNOLOGY </a:t>
            </a:r>
          </a:p>
          <a:p>
            <a:r>
              <a:rPr lang="en-US" sz="1800" b="1" baseline="0" dirty="0">
                <a:solidFill>
                  <a:schemeClr val="tx1">
                    <a:lumMod val="75000"/>
                    <a:lumOff val="25000"/>
                  </a:schemeClr>
                </a:solidFill>
              </a:rPr>
              <a:t>(Autonomous)</a:t>
            </a:r>
            <a:endParaRPr lang="en-IN" sz="1800" b="1" dirty="0">
              <a:solidFill>
                <a:schemeClr val="tx1">
                  <a:lumMod val="75000"/>
                  <a:lumOff val="25000"/>
                </a:schemeClr>
              </a:solidFill>
            </a:endParaRPr>
          </a:p>
        </p:txBody>
      </p:sp>
      <p:pic>
        <p:nvPicPr>
          <p:cNvPr id="23" name="Picture 22">
            <a:extLst>
              <a:ext uri="{FF2B5EF4-FFF2-40B4-BE49-F238E27FC236}">
                <a16:creationId xmlns:a16="http://schemas.microsoft.com/office/drawing/2014/main" id="{58EF89A7-2EC3-4C2F-8CD5-38EBD9C9E7A7}"/>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52593"/>
          <a:stretch/>
        </p:blipFill>
        <p:spPr>
          <a:xfrm rot="5400000">
            <a:off x="10701751" y="908991"/>
            <a:ext cx="401380" cy="771301"/>
          </a:xfrm>
          <a:prstGeom prst="rect">
            <a:avLst/>
          </a:prstGeom>
        </p:spPr>
      </p:pic>
      <p:pic>
        <p:nvPicPr>
          <p:cNvPr id="24" name="Picture 23">
            <a:extLst>
              <a:ext uri="{FF2B5EF4-FFF2-40B4-BE49-F238E27FC236}">
                <a16:creationId xmlns:a16="http://schemas.microsoft.com/office/drawing/2014/main" id="{98697074-93F8-40F8-8E14-4CE66307DCE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21036" y="5731534"/>
            <a:ext cx="1624130" cy="331845"/>
          </a:xfrm>
          <a:prstGeom prst="rect">
            <a:avLst/>
          </a:prstGeom>
        </p:spPr>
      </p:pic>
      <p:sp>
        <p:nvSpPr>
          <p:cNvPr id="27" name="Rounded Rectangle 21">
            <a:extLst>
              <a:ext uri="{FF2B5EF4-FFF2-40B4-BE49-F238E27FC236}">
                <a16:creationId xmlns:a16="http://schemas.microsoft.com/office/drawing/2014/main" id="{66B86EF8-DB93-4781-B3FA-DD81D492F90C}"/>
              </a:ext>
            </a:extLst>
          </p:cNvPr>
          <p:cNvSpPr/>
          <p:nvPr userDrawn="1"/>
        </p:nvSpPr>
        <p:spPr>
          <a:xfrm>
            <a:off x="454594" y="6164905"/>
            <a:ext cx="64800" cy="406800"/>
          </a:xfrm>
          <a:prstGeom prst="roundRect">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 Placeholder 33">
            <a:extLst>
              <a:ext uri="{FF2B5EF4-FFF2-40B4-BE49-F238E27FC236}">
                <a16:creationId xmlns:a16="http://schemas.microsoft.com/office/drawing/2014/main" id="{8DDD73EE-23E8-462A-BC92-730C6313E420}"/>
              </a:ext>
            </a:extLst>
          </p:cNvPr>
          <p:cNvSpPr>
            <a:spLocks noGrp="1"/>
          </p:cNvSpPr>
          <p:nvPr>
            <p:ph type="body" sz="quarter" idx="15" hasCustomPrompt="1"/>
          </p:nvPr>
        </p:nvSpPr>
        <p:spPr>
          <a:xfrm>
            <a:off x="6647267" y="6190305"/>
            <a:ext cx="2305140" cy="401317"/>
          </a:xfrm>
        </p:spPr>
        <p:txBody>
          <a:bodyPr>
            <a:normAutofit/>
          </a:bodyPr>
          <a:lstStyle>
            <a:lvl1pPr marL="0" indent="0">
              <a:buNone/>
              <a:defRPr sz="1800" baseline="0">
                <a:latin typeface="Trebuchet MS" panose="020B0603020202020204" pitchFamily="34" charset="0"/>
              </a:defRPr>
            </a:lvl1pPr>
          </a:lstStyle>
          <a:p>
            <a:pPr lvl="0"/>
            <a:r>
              <a:rPr lang="en-US" dirty="0"/>
              <a:t>Click to add date</a:t>
            </a:r>
            <a:endParaRPr lang="en-IN" dirty="0"/>
          </a:p>
        </p:txBody>
      </p:sp>
      <p:sp>
        <p:nvSpPr>
          <p:cNvPr id="35" name="Subtitle 2">
            <a:extLst>
              <a:ext uri="{FF2B5EF4-FFF2-40B4-BE49-F238E27FC236}">
                <a16:creationId xmlns:a16="http://schemas.microsoft.com/office/drawing/2014/main" id="{4BD73942-97CD-4497-8A61-44BF73926098}"/>
              </a:ext>
            </a:extLst>
          </p:cNvPr>
          <p:cNvSpPr>
            <a:spLocks noGrp="1"/>
          </p:cNvSpPr>
          <p:nvPr>
            <p:ph type="subTitle" idx="1" hasCustomPrompt="1"/>
          </p:nvPr>
        </p:nvSpPr>
        <p:spPr>
          <a:xfrm>
            <a:off x="424331" y="3522026"/>
            <a:ext cx="5964723" cy="424306"/>
          </a:xfrm>
        </p:spPr>
        <p:txBody>
          <a:bodyPr>
            <a:normAutofit/>
          </a:bodyPr>
          <a:lstStyle>
            <a:lvl1pPr marL="0" indent="0" algn="l">
              <a:buNone/>
              <a:defRPr sz="2400" b="1">
                <a:solidFill>
                  <a:srgbClr val="F3822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Name</a:t>
            </a:r>
            <a:endParaRPr lang="en-IN" dirty="0"/>
          </a:p>
        </p:txBody>
      </p:sp>
      <p:sp>
        <p:nvSpPr>
          <p:cNvPr id="38" name="Text Placeholder 33">
            <a:extLst>
              <a:ext uri="{FF2B5EF4-FFF2-40B4-BE49-F238E27FC236}">
                <a16:creationId xmlns:a16="http://schemas.microsoft.com/office/drawing/2014/main" id="{D74FE863-7610-4877-9C83-5B3B1995EFA0}"/>
              </a:ext>
            </a:extLst>
          </p:cNvPr>
          <p:cNvSpPr>
            <a:spLocks noGrp="1"/>
          </p:cNvSpPr>
          <p:nvPr>
            <p:ph type="body" sz="quarter" idx="16" hasCustomPrompt="1"/>
          </p:nvPr>
        </p:nvSpPr>
        <p:spPr>
          <a:xfrm>
            <a:off x="436194" y="4093423"/>
            <a:ext cx="5940998" cy="362947"/>
          </a:xfrm>
        </p:spPr>
        <p:txBody>
          <a:bodyPr>
            <a:normAutofit/>
          </a:bodyPr>
          <a:lstStyle>
            <a:lvl1pPr marL="0" indent="0">
              <a:buNone/>
              <a:defRPr sz="1900" baseline="0">
                <a:solidFill>
                  <a:schemeClr val="tx1">
                    <a:lumMod val="75000"/>
                    <a:lumOff val="25000"/>
                  </a:schemeClr>
                </a:solidFill>
                <a:latin typeface="Trebuchet MS" panose="020B0603020202020204" pitchFamily="34" charset="0"/>
              </a:defRPr>
            </a:lvl1pPr>
          </a:lstStyle>
          <a:p>
            <a:pPr lvl="0"/>
            <a:r>
              <a:rPr lang="en-US" dirty="0"/>
              <a:t>Click to add Department</a:t>
            </a:r>
            <a:endParaRPr lang="en-IN" dirty="0"/>
          </a:p>
        </p:txBody>
      </p:sp>
      <p:sp>
        <p:nvSpPr>
          <p:cNvPr id="39" name="Rounded Rectangle 21">
            <a:extLst>
              <a:ext uri="{FF2B5EF4-FFF2-40B4-BE49-F238E27FC236}">
                <a16:creationId xmlns:a16="http://schemas.microsoft.com/office/drawing/2014/main" id="{E6A548E4-D588-481A-ADE5-309DF80093C2}"/>
              </a:ext>
            </a:extLst>
          </p:cNvPr>
          <p:cNvSpPr/>
          <p:nvPr userDrawn="1"/>
        </p:nvSpPr>
        <p:spPr>
          <a:xfrm>
            <a:off x="490342" y="1132961"/>
            <a:ext cx="136191" cy="704097"/>
          </a:xfrm>
          <a:prstGeom prst="round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a:extLst>
              <a:ext uri="{FF2B5EF4-FFF2-40B4-BE49-F238E27FC236}">
                <a16:creationId xmlns:a16="http://schemas.microsoft.com/office/drawing/2014/main" id="{0B51DC79-A4CE-4981-B142-8D9D7B730524}"/>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1413493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 Title Slide">
    <p:spTree>
      <p:nvGrpSpPr>
        <p:cNvPr id="1" name=""/>
        <p:cNvGrpSpPr/>
        <p:nvPr/>
      </p:nvGrpSpPr>
      <p:grpSpPr>
        <a:xfrm>
          <a:off x="0" y="0"/>
          <a:ext cx="0" cy="0"/>
          <a:chOff x="0" y="0"/>
          <a:chExt cx="0" cy="0"/>
        </a:xfrm>
      </p:grpSpPr>
      <p:sp>
        <p:nvSpPr>
          <p:cNvPr id="45" name="Rectangle 44"/>
          <p:cNvSpPr/>
          <p:nvPr userDrawn="1"/>
        </p:nvSpPr>
        <p:spPr>
          <a:xfrm>
            <a:off x="1" y="3598605"/>
            <a:ext cx="537328" cy="1917291"/>
          </a:xfrm>
          <a:prstGeom prst="rect">
            <a:avLst/>
          </a:prstGeom>
          <a:solidFill>
            <a:srgbClr val="F38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p:cNvSpPr>
            <a:spLocks noGrp="1"/>
          </p:cNvSpPr>
          <p:nvPr>
            <p:ph type="title"/>
          </p:nvPr>
        </p:nvSpPr>
        <p:spPr>
          <a:xfrm>
            <a:off x="763570" y="3608436"/>
            <a:ext cx="8502349" cy="765995"/>
          </a:xfrm>
        </p:spPr>
        <p:txBody>
          <a:bodyPr>
            <a:normAutofit/>
          </a:bodyPr>
          <a:lstStyle>
            <a:lvl1pPr algn="l">
              <a:defRPr sz="3200" b="1" baseline="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endParaRPr lang="en-IN" dirty="0"/>
          </a:p>
        </p:txBody>
      </p:sp>
      <p:sp>
        <p:nvSpPr>
          <p:cNvPr id="12" name="Rectangle 11"/>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a:blip r:embed="rId2"/>
          <a:stretch>
            <a:fillRect/>
          </a:stretch>
        </p:blipFill>
        <p:spPr>
          <a:xfrm>
            <a:off x="11511280" y="6136808"/>
            <a:ext cx="680720" cy="584667"/>
          </a:xfrm>
          <a:prstGeom prst="rect">
            <a:avLst/>
          </a:prstGeom>
        </p:spPr>
      </p:pic>
      <p:sp>
        <p:nvSpPr>
          <p:cNvPr id="14" name="Slide Number Placeholder 5"/>
          <p:cNvSpPr>
            <a:spLocks noGrp="1"/>
          </p:cNvSpPr>
          <p:nvPr>
            <p:ph type="sldNum" sz="quarter" idx="12"/>
          </p:nvPr>
        </p:nvSpPr>
        <p:spPr>
          <a:xfrm>
            <a:off x="11663680" y="6350000"/>
            <a:ext cx="503158" cy="350512"/>
          </a:xfrm>
        </p:spPr>
        <p:txBody>
          <a:bodyPr/>
          <a:lstStyle>
            <a:lvl1pPr>
              <a:defRPr b="1">
                <a:solidFill>
                  <a:schemeClr val="bg1"/>
                </a:solidFill>
              </a:defRPr>
            </a:lvl1pPr>
          </a:lstStyle>
          <a:p>
            <a:fld id="{ED0A4932-3B2E-45C6-B621-E5DE29EAC2DE}" type="slidenum">
              <a:rPr lang="en-IN" smtClean="0"/>
              <a:pPr/>
              <a:t>‹#›</a:t>
            </a:fld>
            <a:endParaRPr lang="en-IN"/>
          </a:p>
        </p:txBody>
      </p:sp>
      <p:sp>
        <p:nvSpPr>
          <p:cNvPr id="15" name="Rectangle 14"/>
          <p:cNvSpPr/>
          <p:nvPr userDrawn="1"/>
        </p:nvSpPr>
        <p:spPr>
          <a:xfrm>
            <a:off x="9448800" y="3598604"/>
            <a:ext cx="2743200" cy="1917291"/>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p:cNvCxnSpPr>
            <a:cxnSpLocks/>
          </p:cNvCxnSpPr>
          <p:nvPr userDrawn="1"/>
        </p:nvCxnSpPr>
        <p:spPr>
          <a:xfrm>
            <a:off x="763571" y="4707993"/>
            <a:ext cx="8502349" cy="0"/>
          </a:xfrm>
          <a:prstGeom prst="line">
            <a:avLst/>
          </a:prstGeom>
          <a:ln w="28575">
            <a:solidFill>
              <a:srgbClr val="A9AAAE"/>
            </a:solidFill>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userDrawn="1"/>
        </p:nvPicPr>
        <p:blipFill rotWithShape="1">
          <a:blip r:embed="rId3"/>
          <a:srcRect t="4364" r="2963" b="-1"/>
          <a:stretch/>
        </p:blipFill>
        <p:spPr>
          <a:xfrm>
            <a:off x="9988826" y="14151"/>
            <a:ext cx="2203174" cy="1514041"/>
          </a:xfrm>
          <a:prstGeom prst="rect">
            <a:avLst/>
          </a:prstGeom>
        </p:spPr>
      </p:pic>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2" name="Text Placeholder 33"/>
          <p:cNvSpPr>
            <a:spLocks noGrp="1"/>
          </p:cNvSpPr>
          <p:nvPr>
            <p:ph type="body" sz="quarter" idx="15" hasCustomPrompt="1"/>
          </p:nvPr>
        </p:nvSpPr>
        <p:spPr>
          <a:xfrm>
            <a:off x="763571" y="4994365"/>
            <a:ext cx="8502349" cy="460582"/>
          </a:xfrm>
        </p:spPr>
        <p:txBody>
          <a:bodyPr>
            <a:normAutofit/>
          </a:bodyPr>
          <a:lstStyle>
            <a:lvl1pPr marL="0" indent="0">
              <a:buNone/>
              <a:defRPr sz="2400" baseline="0">
                <a:latin typeface="Trebuchet MS" panose="020B0603020202020204" pitchFamily="34" charset="0"/>
              </a:defRPr>
            </a:lvl1pPr>
          </a:lstStyle>
          <a:p>
            <a:pPr lvl="0"/>
            <a:r>
              <a:rPr lang="en-US" dirty="0"/>
              <a:t>Click to add subtitle</a:t>
            </a:r>
            <a:endParaRPr lang="en-IN" dirty="0"/>
          </a:p>
        </p:txBody>
      </p:sp>
      <p:pic>
        <p:nvPicPr>
          <p:cNvPr id="2" name="Picture 1">
            <a:extLst>
              <a:ext uri="{FF2B5EF4-FFF2-40B4-BE49-F238E27FC236}">
                <a16:creationId xmlns:a16="http://schemas.microsoft.com/office/drawing/2014/main" id="{8317A328-A301-4B1E-8636-F7A2FA5378D7}"/>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847669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4813" y="550216"/>
            <a:ext cx="9414013" cy="765995"/>
          </a:xfrm>
        </p:spPr>
        <p:txBody>
          <a:bodyPr>
            <a:normAutofit/>
          </a:bodyPr>
          <a:lstStyle>
            <a:lvl1pPr>
              <a:defRPr sz="3000" b="1">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Click to add Master title style</a:t>
            </a:r>
            <a:endParaRPr lang="en-IN" dirty="0"/>
          </a:p>
        </p:txBody>
      </p:sp>
      <p:sp>
        <p:nvSpPr>
          <p:cNvPr id="3" name="Content Placeholder 2"/>
          <p:cNvSpPr>
            <a:spLocks noGrp="1"/>
          </p:cNvSpPr>
          <p:nvPr>
            <p:ph idx="1"/>
          </p:nvPr>
        </p:nvSpPr>
        <p:spPr>
          <a:xfrm>
            <a:off x="574812" y="1726770"/>
            <a:ext cx="10936467" cy="4396635"/>
          </a:xfrm>
        </p:spPr>
        <p:txBody>
          <a:bodyPr>
            <a:normAutofit/>
          </a:bodyPr>
          <a:lstStyle>
            <a:lvl1pPr>
              <a:lnSpc>
                <a:spcPts val="2880"/>
              </a:lnSpc>
              <a:defRPr sz="2400">
                <a:latin typeface="Trebuchet MS" panose="020B0603020202020204" pitchFamily="34" charset="0"/>
                <a:ea typeface="Tahoma" panose="020B0604030504040204" pitchFamily="34" charset="0"/>
                <a:cs typeface="Tahoma" panose="020B0604030504040204" pitchFamily="34" charset="0"/>
              </a:defRPr>
            </a:lvl1pPr>
            <a:lvl2pPr>
              <a:lnSpc>
                <a:spcPts val="2880"/>
              </a:lnSpc>
              <a:defRPr sz="2000">
                <a:latin typeface="Trebuchet MS" panose="020B0603020202020204" pitchFamily="34" charset="0"/>
                <a:ea typeface="Tahoma" panose="020B0604030504040204" pitchFamily="34" charset="0"/>
                <a:cs typeface="Tahoma" panose="020B0604030504040204" pitchFamily="34" charset="0"/>
              </a:defRPr>
            </a:lvl2pPr>
            <a:lvl3pPr>
              <a:lnSpc>
                <a:spcPts val="2880"/>
              </a:lnSpc>
              <a:defRPr sz="1800">
                <a:latin typeface="Trebuchet MS" panose="020B0603020202020204" pitchFamily="34" charset="0"/>
                <a:ea typeface="Tahoma" panose="020B0604030504040204" pitchFamily="34" charset="0"/>
                <a:cs typeface="Tahoma" panose="020B0604030504040204" pitchFamily="34" charset="0"/>
              </a:defRPr>
            </a:lvl3pPr>
            <a:lvl4pPr>
              <a:lnSpc>
                <a:spcPts val="2880"/>
              </a:lnSpc>
              <a:defRPr sz="1600">
                <a:latin typeface="Trebuchet MS" panose="020B0603020202020204" pitchFamily="34" charset="0"/>
                <a:ea typeface="Tahoma" panose="020B0604030504040204" pitchFamily="34" charset="0"/>
                <a:cs typeface="Tahoma" panose="020B0604030504040204" pitchFamily="34" charset="0"/>
              </a:defRPr>
            </a:lvl4pPr>
            <a:lvl5pPr>
              <a:lnSpc>
                <a:spcPts val="2880"/>
              </a:lnSpc>
              <a:defRPr sz="1600">
                <a:latin typeface="Trebuchet MS" panose="020B060302020202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27" name="Picture 26"/>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sp>
        <p:nvSpPr>
          <p:cNvPr id="29" name="Rectangle 28"/>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p:cNvPicPr>
            <a:picLocks noChangeAspect="1"/>
          </p:cNvPicPr>
          <p:nvPr userDrawn="1"/>
        </p:nvPicPr>
        <p:blipFill>
          <a:blip r:embed="rId4"/>
          <a:stretch>
            <a:fillRect/>
          </a:stretch>
        </p:blipFill>
        <p:spPr>
          <a:xfrm>
            <a:off x="11511280" y="6136808"/>
            <a:ext cx="680720" cy="584667"/>
          </a:xfrm>
          <a:prstGeom prst="rect">
            <a:avLst/>
          </a:prstGeom>
        </p:spPr>
      </p:pic>
      <p:sp>
        <p:nvSpPr>
          <p:cNvPr id="31" name="Rounded Rectangle 30"/>
          <p:cNvSpPr/>
          <p:nvPr userDrawn="1"/>
        </p:nvSpPr>
        <p:spPr>
          <a:xfrm>
            <a:off x="698500" y="1349372"/>
            <a:ext cx="906463" cy="54603"/>
          </a:xfrm>
          <a:prstGeom prst="roundRect">
            <a:avLst>
              <a:gd name="adj" fmla="val 50000"/>
            </a:avLst>
          </a:prstGeom>
          <a:solidFill>
            <a:srgbClr val="A9AA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ACA9FEA-5CEE-4F7A-A457-1CCAE5DF7043}"/>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14" name="Slide Number Placeholder 5">
            <a:extLst>
              <a:ext uri="{FF2B5EF4-FFF2-40B4-BE49-F238E27FC236}">
                <a16:creationId xmlns:a16="http://schemas.microsoft.com/office/drawing/2014/main" id="{237B0786-1107-4794-B9A1-D62C76F8F8E2}"/>
              </a:ext>
            </a:extLst>
          </p:cNvPr>
          <p:cNvSpPr>
            <a:spLocks noGrp="1"/>
          </p:cNvSpPr>
          <p:nvPr>
            <p:ph type="sldNum" sz="quarter" idx="12"/>
          </p:nvPr>
        </p:nvSpPr>
        <p:spPr>
          <a:xfrm>
            <a:off x="11663680" y="6350000"/>
            <a:ext cx="503158" cy="350512"/>
          </a:xfrm>
        </p:spPr>
        <p:txBody>
          <a:bodyPr/>
          <a:lstStyle>
            <a:lvl1pPr>
              <a:defRPr sz="1400" b="1">
                <a:solidFill>
                  <a:schemeClr val="bg1"/>
                </a:solidFill>
              </a:defRPr>
            </a:lvl1pPr>
          </a:lstStyle>
          <a:p>
            <a:fld id="{ED0A4932-3B2E-45C6-B621-E5DE29EAC2DE}" type="slidenum">
              <a:rPr lang="en-IN" smtClean="0"/>
              <a:pPr/>
              <a:t>‹#›</a:t>
            </a:fld>
            <a:endParaRPr lang="en-IN" dirty="0"/>
          </a:p>
        </p:txBody>
      </p:sp>
      <p:sp>
        <p:nvSpPr>
          <p:cNvPr id="15" name="Date Placeholder 4">
            <a:extLst>
              <a:ext uri="{FF2B5EF4-FFF2-40B4-BE49-F238E27FC236}">
                <a16:creationId xmlns:a16="http://schemas.microsoft.com/office/drawing/2014/main" id="{A89405C6-6DC8-4382-BC34-8D5DFB1792EA}"/>
              </a:ext>
            </a:extLst>
          </p:cNvPr>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16" name="Footer Placeholder 5">
            <a:extLst>
              <a:ext uri="{FF2B5EF4-FFF2-40B4-BE49-F238E27FC236}">
                <a16:creationId xmlns:a16="http://schemas.microsoft.com/office/drawing/2014/main" id="{99538A48-E6DB-463C-8094-5B83EB630EFD}"/>
              </a:ext>
            </a:extLst>
          </p:cNvPr>
          <p:cNvSpPr>
            <a:spLocks noGrp="1"/>
          </p:cNvSpPr>
          <p:nvPr>
            <p:ph type="ftr" sz="quarter" idx="11"/>
          </p:nvPr>
        </p:nvSpPr>
        <p:spPr>
          <a:xfrm>
            <a:off x="4038600" y="6356350"/>
            <a:ext cx="4114800" cy="365125"/>
          </a:xfrm>
        </p:spPr>
        <p:txBody>
          <a:bodyPr/>
          <a:lstStyle>
            <a:lvl1pPr>
              <a:defRPr>
                <a:latin typeface="Trebuchet MS" panose="020B0603020202020204" pitchFamily="34" charset="0"/>
              </a:defRPr>
            </a:lvl1pPr>
          </a:lstStyle>
          <a:p>
            <a:endParaRPr lang="en-IN"/>
          </a:p>
        </p:txBody>
      </p:sp>
    </p:spTree>
    <p:extLst>
      <p:ext uri="{BB962C8B-B14F-4D97-AF65-F5344CB8AC3E}">
        <p14:creationId xmlns:p14="http://schemas.microsoft.com/office/powerpoint/2010/main" val="1572515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74813" y="1555216"/>
            <a:ext cx="5472026" cy="4563319"/>
          </a:xfrm>
        </p:spPr>
        <p:txBody>
          <a:bodyPr>
            <a:normAutofit/>
          </a:bodyPr>
          <a:lstStyle>
            <a:lvl1pPr>
              <a:defRPr sz="2400">
                <a:latin typeface="Trebuchet MS" panose="020B0603020202020204" pitchFamily="34" charset="0"/>
                <a:cs typeface="Arial" panose="020B0604020202020204" pitchFamily="34" charset="0"/>
              </a:defRPr>
            </a:lvl1pPr>
            <a:lvl2pPr>
              <a:defRPr sz="2000">
                <a:latin typeface="Trebuchet MS" panose="020B0603020202020204" pitchFamily="34" charset="0"/>
                <a:cs typeface="Arial" panose="020B0604020202020204" pitchFamily="34" charset="0"/>
              </a:defRPr>
            </a:lvl2pPr>
            <a:lvl3pPr>
              <a:defRPr sz="1800">
                <a:latin typeface="Trebuchet MS" panose="020B0603020202020204" pitchFamily="34" charset="0"/>
                <a:cs typeface="Arial" panose="020B0604020202020204" pitchFamily="34" charset="0"/>
              </a:defRPr>
            </a:lvl3pPr>
            <a:lvl4pPr>
              <a:defRPr sz="1600">
                <a:latin typeface="Trebuchet MS" panose="020B0603020202020204" pitchFamily="34" charset="0"/>
                <a:cs typeface="Arial" panose="020B0604020202020204" pitchFamily="34" charset="0"/>
              </a:defRPr>
            </a:lvl4pPr>
            <a:lvl5pPr>
              <a:defRPr sz="1600">
                <a:latin typeface="Trebuchet MS" panose="020B0603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249173" y="1549857"/>
            <a:ext cx="5480711" cy="4563319"/>
          </a:xfrm>
        </p:spPr>
        <p:txBody>
          <a:bodyPr>
            <a:normAutofit/>
          </a:bodyPr>
          <a:lstStyle>
            <a:lvl1pPr>
              <a:defRPr sz="2400">
                <a:latin typeface="Trebuchet MS" panose="020B0603020202020204" pitchFamily="34" charset="0"/>
                <a:cs typeface="Arial" panose="020B0604020202020204" pitchFamily="34" charset="0"/>
              </a:defRPr>
            </a:lvl1pPr>
            <a:lvl2pPr>
              <a:defRPr sz="2000">
                <a:latin typeface="Trebuchet MS" panose="020B0603020202020204" pitchFamily="34" charset="0"/>
                <a:cs typeface="Arial" panose="020B0604020202020204" pitchFamily="34" charset="0"/>
              </a:defRPr>
            </a:lvl2pPr>
            <a:lvl3pPr>
              <a:defRPr sz="1800">
                <a:latin typeface="Trebuchet MS" panose="020B0603020202020204" pitchFamily="34" charset="0"/>
                <a:cs typeface="Arial" panose="020B0604020202020204" pitchFamily="34" charset="0"/>
              </a:defRPr>
            </a:lvl3pPr>
            <a:lvl4pPr>
              <a:defRPr sz="1600">
                <a:latin typeface="Trebuchet MS" panose="020B0603020202020204" pitchFamily="34" charset="0"/>
                <a:cs typeface="Arial" panose="020B0604020202020204" pitchFamily="34" charset="0"/>
              </a:defRPr>
            </a:lvl4pPr>
            <a:lvl5pPr>
              <a:defRPr sz="1600">
                <a:latin typeface="Trebuchet MS" panose="020B0603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a:xfrm>
            <a:off x="567626" y="6335387"/>
            <a:ext cx="2743200" cy="365125"/>
          </a:xfrm>
        </p:spPr>
        <p:txBody>
          <a:bodyPr/>
          <a:lstStyle>
            <a:lvl1pPr>
              <a:defRPr>
                <a:latin typeface="Trebuchet MS" panose="020B0603020202020204" pitchFamily="34" charset="0"/>
              </a:defRPr>
            </a:lvl1pPr>
          </a:lstStyle>
          <a:p>
            <a:endParaRPr lang="en-IN" dirty="0"/>
          </a:p>
        </p:txBody>
      </p:sp>
      <p:sp>
        <p:nvSpPr>
          <p:cNvPr id="6" name="Footer Placeholder 5"/>
          <p:cNvSpPr>
            <a:spLocks noGrp="1"/>
          </p:cNvSpPr>
          <p:nvPr>
            <p:ph type="ftr" sz="quarter" idx="11"/>
          </p:nvPr>
        </p:nvSpPr>
        <p:spPr/>
        <p:txBody>
          <a:bodyPr/>
          <a:lstStyle>
            <a:lvl1pPr>
              <a:defRPr>
                <a:latin typeface="Trebuchet MS" panose="020B0603020202020204" pitchFamily="34" charset="0"/>
              </a:defRPr>
            </a:lvl1pPr>
          </a:lstStyle>
          <a:p>
            <a:endParaRPr lang="en-IN"/>
          </a:p>
        </p:txBody>
      </p:sp>
      <p:sp>
        <p:nvSpPr>
          <p:cNvPr id="13" name="Title 1"/>
          <p:cNvSpPr>
            <a:spLocks noGrp="1"/>
          </p:cNvSpPr>
          <p:nvPr>
            <p:ph type="title" hasCustomPrompt="1"/>
          </p:nvPr>
        </p:nvSpPr>
        <p:spPr>
          <a:xfrm>
            <a:off x="574813" y="550216"/>
            <a:ext cx="9414013" cy="765995"/>
          </a:xfrm>
        </p:spPr>
        <p:txBody>
          <a:bodyPr>
            <a:normAutofit/>
          </a:bodyPr>
          <a:lstStyle>
            <a:lvl1pPr>
              <a:defRPr sz="320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r>
              <a:rPr lang="en-US" dirty="0"/>
              <a:t>Click to add Master title style</a:t>
            </a:r>
            <a:endParaRPr lang="en-IN" dirty="0"/>
          </a:p>
        </p:txBody>
      </p:sp>
      <p:pic>
        <p:nvPicPr>
          <p:cNvPr id="15" name="Picture 14"/>
          <p:cNvPicPr>
            <a:picLocks noChangeAspect="1"/>
          </p:cNvPicPr>
          <p:nvPr userDrawn="1"/>
        </p:nvPicPr>
        <p:blipFill rotWithShape="1">
          <a:blip r:embed="rId2"/>
          <a:srcRect t="4364" r="2963" b="-1"/>
          <a:stretch/>
        </p:blipFill>
        <p:spPr>
          <a:xfrm>
            <a:off x="9988826" y="14151"/>
            <a:ext cx="2203174" cy="1514041"/>
          </a:xfrm>
          <a:prstGeom prst="rect">
            <a:avLst/>
          </a:prstGeom>
        </p:spPr>
      </p:pic>
      <p:pic>
        <p:nvPicPr>
          <p:cNvPr id="16" name="Pictur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00" y="116034"/>
            <a:ext cx="972231" cy="913203"/>
          </a:xfrm>
          <a:prstGeom prst="rect">
            <a:avLst/>
          </a:prstGeom>
        </p:spPr>
      </p:pic>
      <p:pic>
        <p:nvPicPr>
          <p:cNvPr id="18" name="Picture 17"/>
          <p:cNvPicPr>
            <a:picLocks noChangeAspect="1"/>
          </p:cNvPicPr>
          <p:nvPr userDrawn="1"/>
        </p:nvPicPr>
        <p:blipFill>
          <a:blip r:embed="rId4"/>
          <a:stretch>
            <a:fillRect/>
          </a:stretch>
        </p:blipFill>
        <p:spPr>
          <a:xfrm>
            <a:off x="11511280" y="6136808"/>
            <a:ext cx="680720" cy="584667"/>
          </a:xfrm>
          <a:prstGeom prst="rect">
            <a:avLst/>
          </a:prstGeom>
        </p:spPr>
      </p:pic>
      <p:pic>
        <p:nvPicPr>
          <p:cNvPr id="20" name="Picture 19">
            <a:extLst>
              <a:ext uri="{FF2B5EF4-FFF2-40B4-BE49-F238E27FC236}">
                <a16:creationId xmlns:a16="http://schemas.microsoft.com/office/drawing/2014/main" id="{67D7F617-22AE-45E1-B868-6BCDD9387FF4}"/>
              </a:ext>
            </a:extLst>
          </p:cNvPr>
          <p:cNvPicPr>
            <a:picLocks noChangeAspect="1"/>
          </p:cNvPicPr>
          <p:nvPr userDrawn="1"/>
        </p:nvPicPr>
        <p:blipFill>
          <a:blip r:embed="rId5"/>
          <a:stretch>
            <a:fillRect/>
          </a:stretch>
        </p:blipFill>
        <p:spPr>
          <a:xfrm>
            <a:off x="0" y="-11976"/>
            <a:ext cx="3544389" cy="266366"/>
          </a:xfrm>
          <a:prstGeom prst="rect">
            <a:avLst/>
          </a:prstGeom>
        </p:spPr>
      </p:pic>
      <p:sp>
        <p:nvSpPr>
          <p:cNvPr id="21" name="Rectangle 20">
            <a:extLst>
              <a:ext uri="{FF2B5EF4-FFF2-40B4-BE49-F238E27FC236}">
                <a16:creationId xmlns:a16="http://schemas.microsoft.com/office/drawing/2014/main" id="{3515DC45-FFC2-4242-AAD1-C20D321863E9}"/>
              </a:ext>
            </a:extLst>
          </p:cNvPr>
          <p:cNvSpPr/>
          <p:nvPr userDrawn="1"/>
        </p:nvSpPr>
        <p:spPr>
          <a:xfrm>
            <a:off x="0" y="6721475"/>
            <a:ext cx="12192000" cy="136525"/>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Slide Number Placeholder 5">
            <a:extLst>
              <a:ext uri="{FF2B5EF4-FFF2-40B4-BE49-F238E27FC236}">
                <a16:creationId xmlns:a16="http://schemas.microsoft.com/office/drawing/2014/main" id="{D2FC8B40-DFEC-47A6-ADB6-961A308CFA6F}"/>
              </a:ext>
            </a:extLst>
          </p:cNvPr>
          <p:cNvSpPr>
            <a:spLocks noGrp="1"/>
          </p:cNvSpPr>
          <p:nvPr>
            <p:ph type="sldNum" sz="quarter" idx="12"/>
          </p:nvPr>
        </p:nvSpPr>
        <p:spPr>
          <a:xfrm>
            <a:off x="11663680" y="6350000"/>
            <a:ext cx="503158" cy="350512"/>
          </a:xfrm>
        </p:spPr>
        <p:txBody>
          <a:bodyPr/>
          <a:lstStyle>
            <a:lvl1pPr>
              <a:defRPr b="1">
                <a:solidFill>
                  <a:schemeClr val="bg1"/>
                </a:solidFill>
              </a:defRPr>
            </a:lvl1pPr>
          </a:lstStyle>
          <a:p>
            <a:fld id="{ED0A4932-3B2E-45C6-B621-E5DE29EAC2DE}" type="slidenum">
              <a:rPr lang="en-IN" smtClean="0"/>
              <a:pPr/>
              <a:t>‹#›</a:t>
            </a:fld>
            <a:endParaRPr lang="en-IN"/>
          </a:p>
        </p:txBody>
      </p:sp>
    </p:spTree>
    <p:extLst>
      <p:ext uri="{BB962C8B-B14F-4D97-AF65-F5344CB8AC3E}">
        <p14:creationId xmlns:p14="http://schemas.microsoft.com/office/powerpoint/2010/main" val="3233159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45" name="Rectangle 44"/>
          <p:cNvSpPr/>
          <p:nvPr userDrawn="1"/>
        </p:nvSpPr>
        <p:spPr>
          <a:xfrm>
            <a:off x="0" y="4556034"/>
            <a:ext cx="12192000" cy="2175600"/>
          </a:xfrm>
          <a:prstGeom prst="rect">
            <a:avLst/>
          </a:prstGeom>
          <a:solidFill>
            <a:srgbClr val="1C2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itle 1"/>
          <p:cNvSpPr>
            <a:spLocks noGrp="1"/>
          </p:cNvSpPr>
          <p:nvPr>
            <p:ph type="title"/>
          </p:nvPr>
        </p:nvSpPr>
        <p:spPr>
          <a:xfrm>
            <a:off x="439064" y="1707178"/>
            <a:ext cx="11313872" cy="765995"/>
          </a:xfrm>
        </p:spPr>
        <p:txBody>
          <a:bodyPr>
            <a:normAutofit/>
          </a:bodyPr>
          <a:lstStyle>
            <a:lvl1pPr algn="ctr">
              <a:defRPr sz="4400" b="1" baseline="0">
                <a:solidFill>
                  <a:srgbClr val="000B5D"/>
                </a:solidFill>
                <a:latin typeface="Trebuchet MS" panose="020B0603020202020204" pitchFamily="34" charset="0"/>
                <a:ea typeface="Verdana" panose="020B0604030504040204" pitchFamily="34" charset="0"/>
                <a:cs typeface="Arial" panose="020B0604020202020204" pitchFamily="34" charset="0"/>
              </a:defRPr>
            </a:lvl1pPr>
          </a:lstStyle>
          <a:p>
            <a:endParaRPr lang="en-IN" dirty="0"/>
          </a:p>
        </p:txBody>
      </p:sp>
      <p:sp>
        <p:nvSpPr>
          <p:cNvPr id="48" name="Rectangle 47"/>
          <p:cNvSpPr/>
          <p:nvPr userDrawn="1"/>
        </p:nvSpPr>
        <p:spPr>
          <a:xfrm>
            <a:off x="0" y="6721475"/>
            <a:ext cx="12192000" cy="1365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Subtitle 2"/>
          <p:cNvSpPr txBox="1">
            <a:spLocks/>
          </p:cNvSpPr>
          <p:nvPr userDrawn="1"/>
        </p:nvSpPr>
        <p:spPr>
          <a:xfrm>
            <a:off x="1971368" y="4748566"/>
            <a:ext cx="8249264" cy="135371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800" b="1" dirty="0">
                <a:solidFill>
                  <a:schemeClr val="bg1"/>
                </a:solidFill>
              </a:rPr>
              <a:t>K.S.RANGASAMY</a:t>
            </a:r>
            <a:r>
              <a:rPr lang="en-US" sz="2800" b="1" baseline="0" dirty="0">
                <a:solidFill>
                  <a:schemeClr val="bg1"/>
                </a:solidFill>
              </a:rPr>
              <a:t> COLLEGE OF TECHNOLOGY </a:t>
            </a:r>
          </a:p>
          <a:p>
            <a:pPr algn="ctr"/>
            <a:r>
              <a:rPr lang="en-US" sz="1600" b="1" baseline="0" dirty="0">
                <a:solidFill>
                  <a:schemeClr val="bg1"/>
                </a:solidFill>
              </a:rPr>
              <a:t>(Autonomous)</a:t>
            </a:r>
          </a:p>
          <a:p>
            <a:pPr algn="ctr"/>
            <a:r>
              <a:rPr lang="en-US" sz="1600" b="1" baseline="0" dirty="0">
                <a:solidFill>
                  <a:schemeClr val="bg1"/>
                </a:solidFill>
              </a:rPr>
              <a:t>Tiruchengode – 637 215. </a:t>
            </a:r>
            <a:r>
              <a:rPr lang="en-US" sz="1600" b="1" baseline="0" dirty="0" err="1">
                <a:solidFill>
                  <a:schemeClr val="bg1"/>
                </a:solidFill>
              </a:rPr>
              <a:t>Namakkal</a:t>
            </a:r>
            <a:r>
              <a:rPr lang="en-US" sz="1600" b="1" baseline="0" dirty="0">
                <a:solidFill>
                  <a:schemeClr val="bg1"/>
                </a:solidFill>
              </a:rPr>
              <a:t> Dt. Tamil Nadu. India</a:t>
            </a:r>
            <a:endParaRPr lang="en-IN" sz="1600" b="1" dirty="0">
              <a:solidFill>
                <a:schemeClr val="bg1"/>
              </a:solidFill>
            </a:endParaRPr>
          </a:p>
        </p:txBody>
      </p:sp>
      <p:sp>
        <p:nvSpPr>
          <p:cNvPr id="51" name="Subtitle 2"/>
          <p:cNvSpPr txBox="1">
            <a:spLocks/>
          </p:cNvSpPr>
          <p:nvPr userDrawn="1"/>
        </p:nvSpPr>
        <p:spPr>
          <a:xfrm>
            <a:off x="451408" y="6173547"/>
            <a:ext cx="1813963" cy="31977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www.ksrct.ac.in</a:t>
            </a:r>
            <a:endParaRPr lang="en-IN" sz="1600" b="0" dirty="0">
              <a:solidFill>
                <a:schemeClr val="bg1"/>
              </a:solidFill>
            </a:endParaRPr>
          </a:p>
        </p:txBody>
      </p:sp>
      <p:sp>
        <p:nvSpPr>
          <p:cNvPr id="52" name="Subtitle 2"/>
          <p:cNvSpPr txBox="1">
            <a:spLocks/>
          </p:cNvSpPr>
          <p:nvPr userDrawn="1"/>
        </p:nvSpPr>
        <p:spPr>
          <a:xfrm>
            <a:off x="10717161" y="6182938"/>
            <a:ext cx="1283021" cy="40201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Trebuchet MS" panose="020B0603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0" dirty="0">
                <a:solidFill>
                  <a:schemeClr val="bg1"/>
                </a:solidFill>
              </a:rPr>
              <a:t>/ksrct1994</a:t>
            </a:r>
            <a:endParaRPr lang="en-IN" sz="1600" b="0" dirty="0">
              <a:solidFill>
                <a:schemeClr val="bg1"/>
              </a:solidFill>
            </a:endParaRPr>
          </a:p>
        </p:txBody>
      </p:sp>
      <p:pic>
        <p:nvPicPr>
          <p:cNvPr id="53" name="Picture 5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45201" y="6197233"/>
            <a:ext cx="1282035" cy="272404"/>
          </a:xfrm>
          <a:prstGeom prst="rect">
            <a:avLst/>
          </a:prstGeom>
        </p:spPr>
      </p:pic>
      <p:pic>
        <p:nvPicPr>
          <p:cNvPr id="55" name="Picture 54"/>
          <p:cNvPicPr>
            <a:picLocks noChangeAspect="1"/>
          </p:cNvPicPr>
          <p:nvPr userDrawn="1"/>
        </p:nvPicPr>
        <p:blipFill rotWithShape="1">
          <a:blip r:embed="rId3">
            <a:extLst>
              <a:ext uri="{28A0092B-C50C-407E-A947-70E740481C1C}">
                <a14:useLocalDpi xmlns:a14="http://schemas.microsoft.com/office/drawing/2010/main" val="0"/>
              </a:ext>
            </a:extLst>
          </a:blip>
          <a:srcRect l="26756" r="26334" b="50687"/>
          <a:stretch/>
        </p:blipFill>
        <p:spPr>
          <a:xfrm>
            <a:off x="5399226" y="3086079"/>
            <a:ext cx="1393548" cy="1254898"/>
          </a:xfrm>
          <a:prstGeom prst="rect">
            <a:avLst/>
          </a:prstGeom>
        </p:spPr>
      </p:pic>
      <p:pic>
        <p:nvPicPr>
          <p:cNvPr id="57" name="Picture 56"/>
          <p:cNvPicPr>
            <a:picLocks noChangeAspect="1"/>
          </p:cNvPicPr>
          <p:nvPr userDrawn="1"/>
        </p:nvPicPr>
        <p:blipFill rotWithShape="1">
          <a:blip r:embed="rId4" cstate="print">
            <a:extLst>
              <a:ext uri="{28A0092B-C50C-407E-A947-70E740481C1C}">
                <a14:useLocalDpi xmlns:a14="http://schemas.microsoft.com/office/drawing/2010/main" val="0"/>
              </a:ext>
            </a:extLst>
          </a:blip>
          <a:srcRect t="69104"/>
          <a:stretch/>
        </p:blipFill>
        <p:spPr>
          <a:xfrm flipV="1">
            <a:off x="10735934" y="522077"/>
            <a:ext cx="771302" cy="461791"/>
          </a:xfrm>
          <a:prstGeom prst="rect">
            <a:avLst/>
          </a:prstGeom>
        </p:spPr>
      </p:pic>
      <p:pic>
        <p:nvPicPr>
          <p:cNvPr id="12" name="Picture 11">
            <a:extLst>
              <a:ext uri="{FF2B5EF4-FFF2-40B4-BE49-F238E27FC236}">
                <a16:creationId xmlns:a16="http://schemas.microsoft.com/office/drawing/2014/main" id="{7AEBA141-EE25-46E3-8F08-D8BF5D4F33FF}"/>
              </a:ext>
            </a:extLst>
          </p:cNvPr>
          <p:cNvPicPr>
            <a:picLocks noChangeAspect="1"/>
          </p:cNvPicPr>
          <p:nvPr userDrawn="1"/>
        </p:nvPicPr>
        <p:blipFill>
          <a:blip r:embed="rId5"/>
          <a:stretch>
            <a:fillRect/>
          </a:stretch>
        </p:blipFill>
        <p:spPr>
          <a:xfrm>
            <a:off x="0" y="-11976"/>
            <a:ext cx="3544389" cy="266366"/>
          </a:xfrm>
          <a:prstGeom prst="rect">
            <a:avLst/>
          </a:prstGeom>
        </p:spPr>
      </p:pic>
    </p:spTree>
    <p:extLst>
      <p:ext uri="{BB962C8B-B14F-4D97-AF65-F5344CB8AC3E}">
        <p14:creationId xmlns:p14="http://schemas.microsoft.com/office/powerpoint/2010/main" val="30051272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0A4932-3B2E-45C6-B621-E5DE29EAC2DE}" type="slidenum">
              <a:rPr lang="en-IN" smtClean="0"/>
              <a:pPr/>
              <a:t>‹#›</a:t>
            </a:fld>
            <a:endParaRPr lang="en-IN"/>
          </a:p>
        </p:txBody>
      </p:sp>
    </p:spTree>
    <p:extLst>
      <p:ext uri="{BB962C8B-B14F-4D97-AF65-F5344CB8AC3E}">
        <p14:creationId xmlns:p14="http://schemas.microsoft.com/office/powerpoint/2010/main" val="2857973810"/>
      </p:ext>
    </p:extLst>
  </p:cSld>
  <p:clrMap bg1="lt1" tx1="dk1" bg2="lt2" tx2="dk2" accent1="accent1" accent2="accent2" accent3="accent3" accent4="accent4" accent5="accent5" accent6="accent6" hlink="hlink" folHlink="folHlink"/>
  <p:sldLayoutIdLst>
    <p:sldLayoutId id="2147483657" r:id="rId1"/>
    <p:sldLayoutId id="2147483655" r:id="rId2"/>
    <p:sldLayoutId id="2147483650" r:id="rId3"/>
    <p:sldLayoutId id="2147483652" r:id="rId4"/>
    <p:sldLayoutId id="2147483654"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C7C71A74-EC5E-44D9-8C40-3FCCA0C28858}"/>
              </a:ext>
            </a:extLst>
          </p:cNvPr>
          <p:cNvSpPr>
            <a:spLocks noGrp="1"/>
          </p:cNvSpPr>
          <p:nvPr>
            <p:ph type="ctrTitle"/>
          </p:nvPr>
        </p:nvSpPr>
        <p:spPr>
          <a:xfrm>
            <a:off x="773350" y="266379"/>
            <a:ext cx="8143797" cy="1501558"/>
          </a:xfrm>
        </p:spPr>
        <p:txBody>
          <a:bodyPr/>
          <a:lstStyle/>
          <a:p>
            <a:pPr algn="ctr"/>
            <a:r>
              <a:rPr lang="en-IN" dirty="0"/>
              <a:t>SEWAGE MONITORING SYSTEM</a:t>
            </a:r>
            <a:endParaRPr lang="en-US" sz="2600" dirty="0">
              <a:latin typeface="Times New Roman" pitchFamily="18" charset="0"/>
              <a:cs typeface="Times New Roman" pitchFamily="18" charset="0"/>
            </a:endParaRPr>
          </a:p>
        </p:txBody>
      </p:sp>
      <p:sp>
        <p:nvSpPr>
          <p:cNvPr id="19" name="Text Placeholder 18">
            <a:extLst>
              <a:ext uri="{FF2B5EF4-FFF2-40B4-BE49-F238E27FC236}">
                <a16:creationId xmlns:a16="http://schemas.microsoft.com/office/drawing/2014/main" id="{F3B2D788-55F8-4D77-BCDE-D60BEF136A8D}"/>
              </a:ext>
            </a:extLst>
          </p:cNvPr>
          <p:cNvSpPr>
            <a:spLocks noGrp="1"/>
          </p:cNvSpPr>
          <p:nvPr>
            <p:ph type="body" sz="quarter" idx="15"/>
          </p:nvPr>
        </p:nvSpPr>
        <p:spPr/>
        <p:txBody>
          <a:bodyPr/>
          <a:lstStyle/>
          <a:p>
            <a:r>
              <a:rPr lang="en-US" dirty="0"/>
              <a:t>26/12/2026</a:t>
            </a:r>
          </a:p>
        </p:txBody>
      </p:sp>
      <p:sp>
        <p:nvSpPr>
          <p:cNvPr id="15" name="Subtitle 14">
            <a:extLst>
              <a:ext uri="{FF2B5EF4-FFF2-40B4-BE49-F238E27FC236}">
                <a16:creationId xmlns:a16="http://schemas.microsoft.com/office/drawing/2014/main" id="{407D5186-5698-4CDD-BD44-E4EE4D17D21E}"/>
              </a:ext>
            </a:extLst>
          </p:cNvPr>
          <p:cNvSpPr>
            <a:spLocks noGrp="1"/>
          </p:cNvSpPr>
          <p:nvPr>
            <p:ph type="subTitle" idx="1"/>
          </p:nvPr>
        </p:nvSpPr>
        <p:spPr>
          <a:xfrm>
            <a:off x="433758" y="2937006"/>
            <a:ext cx="6994564" cy="1616139"/>
          </a:xfrm>
        </p:spPr>
        <p:txBody>
          <a:bodyPr>
            <a:normAutofit/>
          </a:bodyPr>
          <a:lstStyle/>
          <a:p>
            <a:r>
              <a:rPr lang="en-US" sz="1800" dirty="0">
                <a:solidFill>
                  <a:schemeClr val="tx1"/>
                </a:solidFill>
                <a:latin typeface="Times New Roman" panose="02020603050405020304" pitchFamily="18" charset="0"/>
                <a:cs typeface="Times New Roman" panose="02020603050405020304" pitchFamily="18" charset="0"/>
              </a:rPr>
              <a:t>SRIATCHAYA N(73772213203)</a:t>
            </a:r>
          </a:p>
          <a:p>
            <a:r>
              <a:rPr lang="en-US" sz="1800" dirty="0">
                <a:solidFill>
                  <a:schemeClr val="tx1"/>
                </a:solidFill>
                <a:latin typeface="Times New Roman" panose="02020603050405020304" pitchFamily="18" charset="0"/>
                <a:cs typeface="Times New Roman" panose="02020603050405020304" pitchFamily="18" charset="0"/>
              </a:rPr>
              <a:t>THARANEESWARAN S(73772213209)</a:t>
            </a:r>
          </a:p>
          <a:p>
            <a:r>
              <a:rPr lang="en-US" sz="1800" dirty="0">
                <a:solidFill>
                  <a:schemeClr val="tx1"/>
                </a:solidFill>
                <a:latin typeface="Times New Roman" panose="02020603050405020304" pitchFamily="18" charset="0"/>
                <a:cs typeface="Times New Roman" panose="02020603050405020304" pitchFamily="18" charset="0"/>
              </a:rPr>
              <a:t>Guided by : </a:t>
            </a:r>
            <a:r>
              <a:rPr lang="en-IN" sz="1800" dirty="0">
                <a:solidFill>
                  <a:schemeClr val="tx1"/>
                </a:solidFill>
              </a:rPr>
              <a:t>Mohan Raj R (Assistant Professor)</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871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05360-1F72-D24C-4A93-80EA1687F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B2F77-5886-0192-49BF-590BC78293B2}"/>
              </a:ext>
            </a:extLst>
          </p:cNvPr>
          <p:cNvSpPr>
            <a:spLocks noGrp="1"/>
          </p:cNvSpPr>
          <p:nvPr>
            <p:ph type="title"/>
          </p:nvPr>
        </p:nvSpPr>
        <p:spPr/>
        <p:txBody>
          <a:bodyPr/>
          <a:lstStyle/>
          <a:p>
            <a:r>
              <a:rPr lang="en-US" sz="2800" dirty="0">
                <a:latin typeface="Times New Roman" pitchFamily="18" charset="0"/>
                <a:cs typeface="Times New Roman" pitchFamily="18" charset="0"/>
              </a:rPr>
              <a:t>ABSTRACT</a:t>
            </a:r>
            <a:endParaRPr lang="en-IN" dirty="0"/>
          </a:p>
        </p:txBody>
      </p:sp>
      <p:sp>
        <p:nvSpPr>
          <p:cNvPr id="3" name="Content Placeholder 2">
            <a:extLst>
              <a:ext uri="{FF2B5EF4-FFF2-40B4-BE49-F238E27FC236}">
                <a16:creationId xmlns:a16="http://schemas.microsoft.com/office/drawing/2014/main" id="{DE4786B6-1C03-D8BC-2717-5D410F34C164}"/>
              </a:ext>
            </a:extLst>
          </p:cNvPr>
          <p:cNvSpPr>
            <a:spLocks noGrp="1"/>
          </p:cNvSpPr>
          <p:nvPr>
            <p:ph idx="1"/>
          </p:nvPr>
        </p:nvSpPr>
        <p:spPr>
          <a:xfrm>
            <a:off x="574812" y="1316211"/>
            <a:ext cx="10911172" cy="4319479"/>
          </a:xfrm>
        </p:spPr>
        <p:txBody>
          <a:bodyPr>
            <a:noAutofit/>
          </a:bodyPr>
          <a:lstStyle/>
          <a:p>
            <a:pPr algn="just">
              <a:lnSpc>
                <a:spcPct val="150000"/>
              </a:lnSpc>
              <a:spcAft>
                <a:spcPts val="1000"/>
              </a:spcAft>
            </a:pPr>
            <a:r>
              <a:rPr lang="en-GB" sz="1600" dirty="0">
                <a:latin typeface="Times New Roman" panose="02020603050405020304" pitchFamily="18" charset="0"/>
                <a:ea typeface="Calibri" panose="020F0502020204030204" pitchFamily="34" charset="0"/>
              </a:rPr>
              <a:t>Sewage environments pose serious risks to workers due to toxic gases and hazardous materials present in sewer manholes. Traditional wired monitoring systems, while helpful, suffer from limitations such as poor portability, high cost, and lack of adaptability to confined spaces. </a:t>
            </a:r>
          </a:p>
          <a:p>
            <a:pPr algn="just">
              <a:lnSpc>
                <a:spcPct val="150000"/>
              </a:lnSpc>
              <a:spcAft>
                <a:spcPts val="1000"/>
              </a:spcAft>
            </a:pPr>
            <a:r>
              <a:rPr lang="en-GB" sz="1600" dirty="0">
                <a:latin typeface="Times New Roman" panose="02020603050405020304" pitchFamily="18" charset="0"/>
                <a:ea typeface="Calibri" panose="020F0502020204030204" pitchFamily="34" charset="0"/>
              </a:rPr>
              <a:t>To overcome these challenges, this project proposes a real-time wearable monitoring system that continuously tracks environmental conditions including temperature, moisture, and harmful gas levels.</a:t>
            </a:r>
          </a:p>
          <a:p>
            <a:pPr algn="just">
              <a:lnSpc>
                <a:spcPct val="150000"/>
              </a:lnSpc>
              <a:spcAft>
                <a:spcPts val="1000"/>
              </a:spcAft>
            </a:pPr>
            <a:r>
              <a:rPr lang="en-GB" sz="1600" dirty="0">
                <a:latin typeface="Times New Roman" panose="02020603050405020304" pitchFamily="18" charset="0"/>
                <a:ea typeface="Calibri" panose="020F0502020204030204" pitchFamily="34" charset="0"/>
              </a:rPr>
              <a:t> Using LoRa wireless technology, the system enables long-distance communication between wearable devices and a central control unit for continuous monitoring. When unsafe conditions are detected, instant alerts are sent to workers and management to enable rapid response. </a:t>
            </a:r>
          </a:p>
          <a:p>
            <a:pPr algn="just">
              <a:lnSpc>
                <a:spcPct val="150000"/>
              </a:lnSpc>
              <a:spcAft>
                <a:spcPts val="1000"/>
              </a:spcAft>
            </a:pPr>
            <a:r>
              <a:rPr lang="en-GB" sz="1600" dirty="0">
                <a:latin typeface="Times New Roman" panose="02020603050405020304" pitchFamily="18" charset="0"/>
                <a:ea typeface="Calibri" panose="020F0502020204030204" pitchFamily="34" charset="0"/>
              </a:rPr>
              <a:t>The system is designed to be affordable, portable, and user-friendly, ensuring worker safety without interfering with daily tasks. </a:t>
            </a:r>
          </a:p>
        </p:txBody>
      </p:sp>
      <p:sp>
        <p:nvSpPr>
          <p:cNvPr id="4" name="Slide Number Placeholder 3">
            <a:extLst>
              <a:ext uri="{FF2B5EF4-FFF2-40B4-BE49-F238E27FC236}">
                <a16:creationId xmlns:a16="http://schemas.microsoft.com/office/drawing/2014/main" id="{61B1CBBC-FA07-141C-983E-698396C83D9F}"/>
              </a:ext>
            </a:extLst>
          </p:cNvPr>
          <p:cNvSpPr>
            <a:spLocks noGrp="1"/>
          </p:cNvSpPr>
          <p:nvPr>
            <p:ph type="sldNum" sz="quarter" idx="12"/>
          </p:nvPr>
        </p:nvSpPr>
        <p:spPr>
          <a:xfrm>
            <a:off x="9423638" y="6335387"/>
            <a:ext cx="2743200" cy="365125"/>
          </a:xfrm>
        </p:spPr>
        <p:txBody>
          <a:bodyPr/>
          <a:lstStyle/>
          <a:p>
            <a:fld id="{ED0A4932-3B2E-45C6-B621-E5DE29EAC2DE}" type="slidenum">
              <a:rPr lang="en-IN" smtClean="0"/>
              <a:pPr/>
              <a:t>2</a:t>
            </a:fld>
            <a:endParaRPr lang="en-IN"/>
          </a:p>
        </p:txBody>
      </p:sp>
    </p:spTree>
    <p:extLst>
      <p:ext uri="{BB962C8B-B14F-4D97-AF65-F5344CB8AC3E}">
        <p14:creationId xmlns:p14="http://schemas.microsoft.com/office/powerpoint/2010/main" val="3091168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473AB-0A8E-1111-9F42-1E1F741701E5}"/>
              </a:ext>
            </a:extLst>
          </p:cNvPr>
          <p:cNvSpPr>
            <a:spLocks noGrp="1"/>
          </p:cNvSpPr>
          <p:nvPr>
            <p:ph type="title"/>
          </p:nvPr>
        </p:nvSpPr>
        <p:spPr/>
        <p:txBody>
          <a:bodyPr/>
          <a:lstStyle/>
          <a:p>
            <a:r>
              <a:rPr lang="en-US" dirty="0"/>
              <a:t>NOVELTY OF THE PROJECT</a:t>
            </a:r>
            <a:endParaRPr lang="en-IN" dirty="0"/>
          </a:p>
        </p:txBody>
      </p:sp>
      <p:sp>
        <p:nvSpPr>
          <p:cNvPr id="4" name="Slide Number Placeholder 3">
            <a:extLst>
              <a:ext uri="{FF2B5EF4-FFF2-40B4-BE49-F238E27FC236}">
                <a16:creationId xmlns:a16="http://schemas.microsoft.com/office/drawing/2014/main" id="{742A6A6C-F9E5-1C84-2575-B5BBF883DACD}"/>
              </a:ext>
            </a:extLst>
          </p:cNvPr>
          <p:cNvSpPr>
            <a:spLocks noGrp="1"/>
          </p:cNvSpPr>
          <p:nvPr>
            <p:ph type="sldNum" sz="quarter" idx="12"/>
          </p:nvPr>
        </p:nvSpPr>
        <p:spPr/>
        <p:txBody>
          <a:bodyPr/>
          <a:lstStyle/>
          <a:p>
            <a:fld id="{ED0A4932-3B2E-45C6-B621-E5DE29EAC2DE}" type="slidenum">
              <a:rPr lang="en-IN" smtClean="0"/>
              <a:pPr/>
              <a:t>3</a:t>
            </a:fld>
            <a:endParaRPr lang="en-IN" dirty="0"/>
          </a:p>
        </p:txBody>
      </p:sp>
      <p:sp>
        <p:nvSpPr>
          <p:cNvPr id="5" name="Rectangle 1">
            <a:extLst>
              <a:ext uri="{FF2B5EF4-FFF2-40B4-BE49-F238E27FC236}">
                <a16:creationId xmlns:a16="http://schemas.microsoft.com/office/drawing/2014/main" id="{8B736886-A691-8A52-A683-FE2AA0DE5172}"/>
              </a:ext>
            </a:extLst>
          </p:cNvPr>
          <p:cNvSpPr>
            <a:spLocks noGrp="1" noChangeArrowheads="1"/>
          </p:cNvSpPr>
          <p:nvPr>
            <p:ph idx="1"/>
          </p:nvPr>
        </p:nvSpPr>
        <p:spPr bwMode="auto">
          <a:xfrm>
            <a:off x="752094" y="1755561"/>
            <a:ext cx="8653163" cy="3741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Multi-Gas Detection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Detects multiple toxic gases (CH₄, CO, H₂S, NH₃) for improved safety.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Continuously monitors conditions and provides instant updates.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Ventilation System</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Activates exhaust fan automatically when gas levels are high.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Dual Alert Mechanism</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Gives alerts through buzzer and wireless communication.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IoT-Based Remote Monitoring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supervisors to monitor conditions from anywhere. </a:t>
            </a:r>
          </a:p>
        </p:txBody>
      </p:sp>
    </p:spTree>
    <p:extLst>
      <p:ext uri="{BB962C8B-B14F-4D97-AF65-F5344CB8AC3E}">
        <p14:creationId xmlns:p14="http://schemas.microsoft.com/office/powerpoint/2010/main" val="3823213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02AFC-8DDA-1138-F388-11A85C9FC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FA376-7FE7-3A82-2C4C-585CE671BFE0}"/>
              </a:ext>
            </a:extLst>
          </p:cNvPr>
          <p:cNvSpPr>
            <a:spLocks noGrp="1"/>
          </p:cNvSpPr>
          <p:nvPr>
            <p:ph type="title"/>
          </p:nvPr>
        </p:nvSpPr>
        <p:spPr/>
        <p:txBody>
          <a:bodyPr/>
          <a:lstStyle/>
          <a:p>
            <a:r>
              <a:rPr lang="en-US" sz="2800" dirty="0">
                <a:latin typeface="Times New Roman" pitchFamily="18" charset="0"/>
                <a:cs typeface="Times New Roman" pitchFamily="18" charset="0"/>
              </a:rPr>
              <a:t>OBJECTIVE</a:t>
            </a:r>
            <a:endParaRPr lang="en-IN" dirty="0"/>
          </a:p>
        </p:txBody>
      </p:sp>
      <p:sp>
        <p:nvSpPr>
          <p:cNvPr id="4" name="Slide Number Placeholder 3">
            <a:extLst>
              <a:ext uri="{FF2B5EF4-FFF2-40B4-BE49-F238E27FC236}">
                <a16:creationId xmlns:a16="http://schemas.microsoft.com/office/drawing/2014/main" id="{5A45BFFC-BEDB-9C4E-FD7E-E110A0D88B77}"/>
              </a:ext>
            </a:extLst>
          </p:cNvPr>
          <p:cNvSpPr>
            <a:spLocks noGrp="1"/>
          </p:cNvSpPr>
          <p:nvPr>
            <p:ph type="sldNum" sz="quarter" idx="12"/>
          </p:nvPr>
        </p:nvSpPr>
        <p:spPr>
          <a:xfrm>
            <a:off x="9423638" y="6335387"/>
            <a:ext cx="2743200" cy="365125"/>
          </a:xfrm>
        </p:spPr>
        <p:txBody>
          <a:bodyPr/>
          <a:lstStyle/>
          <a:p>
            <a:fld id="{ED0A4932-3B2E-45C6-B621-E5DE29EAC2DE}" type="slidenum">
              <a:rPr lang="en-IN" smtClean="0"/>
              <a:pPr/>
              <a:t>4</a:t>
            </a:fld>
            <a:endParaRPr lang="en-IN"/>
          </a:p>
        </p:txBody>
      </p:sp>
      <p:sp>
        <p:nvSpPr>
          <p:cNvPr id="6" name="Content Placeholder 5">
            <a:extLst>
              <a:ext uri="{FF2B5EF4-FFF2-40B4-BE49-F238E27FC236}">
                <a16:creationId xmlns:a16="http://schemas.microsoft.com/office/drawing/2014/main" id="{AA5F9F9B-BBBD-0178-54FF-A520D3BD61CA}"/>
              </a:ext>
            </a:extLst>
          </p:cNvPr>
          <p:cNvSpPr>
            <a:spLocks noGrp="1"/>
          </p:cNvSpPr>
          <p:nvPr>
            <p:ph idx="1"/>
          </p:nvPr>
        </p:nvSpPr>
        <p:spPr/>
        <p:txBody>
          <a:bodyPr>
            <a:normAutofit/>
          </a:bodyPr>
          <a:lstStyle/>
          <a:p>
            <a:pPr lvl="0" algn="just"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To design and develop a real-time wearable monitoring system for detecting hazardous  conditions in sewage and wastewater environments.</a:t>
            </a:r>
          </a:p>
          <a:p>
            <a:pPr lvl="0" algn="just"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To continuously monitor toxic gas levels, temperature, and humidity to ensure a safe working environment for sewage workers.</a:t>
            </a:r>
          </a:p>
          <a:p>
            <a:pPr lvl="0" algn="just"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To implement LoRa-based wireless communication for reliable long-distance data transmission between wearable devices and the control unit.</a:t>
            </a:r>
          </a:p>
          <a:p>
            <a:pPr lvl="0" algn="just" eaLnBrk="0" fontAlgn="base" hangingPunct="0">
              <a:lnSpc>
                <a:spcPct val="150000"/>
              </a:lnSpc>
              <a:spcBef>
                <a:spcPct val="0"/>
              </a:spcBef>
              <a:spcAft>
                <a:spcPct val="0"/>
              </a:spcAft>
            </a:pPr>
            <a:r>
              <a:rPr lang="en-US" altLang="en-US" sz="1600" dirty="0">
                <a:latin typeface="Times New Roman" panose="02020603050405020304" pitchFamily="18" charset="0"/>
                <a:cs typeface="Times New Roman" panose="02020603050405020304" pitchFamily="18" charset="0"/>
              </a:rPr>
              <a:t>To provide instant alerts and notifications to workers and authorities when unsafe environmental conditions are detected, enabling quick preventive action.</a:t>
            </a:r>
          </a:p>
          <a:p>
            <a:endParaRPr lang="en-IN" dirty="0"/>
          </a:p>
        </p:txBody>
      </p:sp>
    </p:spTree>
    <p:extLst>
      <p:ext uri="{BB962C8B-B14F-4D97-AF65-F5344CB8AC3E}">
        <p14:creationId xmlns:p14="http://schemas.microsoft.com/office/powerpoint/2010/main" val="72440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E7AD1-711A-D6D7-6EC4-6B32AF416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E94D4B-4F58-1536-E098-E4F6C330D8F2}"/>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EXISTING SYSTEM</a:t>
            </a:r>
            <a:endParaRPr lang="en-IN" dirty="0"/>
          </a:p>
        </p:txBody>
      </p:sp>
      <p:sp>
        <p:nvSpPr>
          <p:cNvPr id="5" name="TextBox 4">
            <a:extLst>
              <a:ext uri="{FF2B5EF4-FFF2-40B4-BE49-F238E27FC236}">
                <a16:creationId xmlns:a16="http://schemas.microsoft.com/office/drawing/2014/main" id="{3999BEB7-633A-8483-FB9B-49B51BF2F040}"/>
              </a:ext>
            </a:extLst>
          </p:cNvPr>
          <p:cNvSpPr txBox="1"/>
          <p:nvPr/>
        </p:nvSpPr>
        <p:spPr>
          <a:xfrm>
            <a:off x="447870" y="1486577"/>
            <a:ext cx="10935477" cy="2648802"/>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tabLst>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Traditional sewer monitoring systems use wired sensors and manual inspections to detect hazardous gases, temperature changes, and moisture, ensuring worker safety.</a:t>
            </a:r>
          </a:p>
          <a:p>
            <a:pPr marL="285750" indent="-285750" algn="just">
              <a:lnSpc>
                <a:spcPct val="150000"/>
              </a:lnSpc>
              <a:spcAft>
                <a:spcPts val="1000"/>
              </a:spcAft>
              <a:buFont typeface="Arial" panose="020B0604020202020204" pitchFamily="34" charset="0"/>
              <a:buChar char="•"/>
              <a:tabLst>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These systems transmit data to control units and trigger alarms when unsafe conditions are detected.</a:t>
            </a:r>
          </a:p>
          <a:p>
            <a:pPr marL="285750" indent="-285750" algn="just">
              <a:lnSpc>
                <a:spcPct val="150000"/>
              </a:lnSpc>
              <a:spcAft>
                <a:spcPts val="1000"/>
              </a:spcAft>
              <a:buFont typeface="Arial" panose="020B0604020202020204" pitchFamily="34" charset="0"/>
              <a:buChar char="•"/>
              <a:tabLst>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Manual inspections help identify potential hazards but expose workers to toxic gases and hazardous materials.</a:t>
            </a:r>
          </a:p>
          <a:p>
            <a:pPr marL="285750" indent="-285750" algn="just">
              <a:lnSpc>
                <a:spcPct val="150000"/>
              </a:lnSpc>
              <a:spcAft>
                <a:spcPts val="1000"/>
              </a:spcAft>
              <a:buFont typeface="Arial" panose="020B0604020202020204" pitchFamily="34" charset="0"/>
              <a:buChar char="•"/>
              <a:tabLst>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Existing wired systems are bulky, expensive, and difficult to deploy in confined or hard-to-reach sewer environments, with limited adaptability and real-time monitoring.</a:t>
            </a:r>
          </a:p>
        </p:txBody>
      </p:sp>
    </p:spTree>
    <p:extLst>
      <p:ext uri="{BB962C8B-B14F-4D97-AF65-F5344CB8AC3E}">
        <p14:creationId xmlns:p14="http://schemas.microsoft.com/office/powerpoint/2010/main" val="1768992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FCD24-F1F2-A02F-4550-08D85DD48D75}"/>
              </a:ext>
            </a:extLst>
          </p:cNvPr>
          <p:cNvSpPr>
            <a:spLocks noGrp="1"/>
          </p:cNvSpPr>
          <p:nvPr>
            <p:ph type="title"/>
          </p:nvPr>
        </p:nvSpPr>
        <p:spPr/>
        <p:txBody>
          <a:bodyPr/>
          <a:lstStyle/>
          <a:p>
            <a:r>
              <a:rPr lang="en-US" sz="2800" dirty="0">
                <a:latin typeface="Times New Roman" pitchFamily="18" charset="0"/>
                <a:cs typeface="Times New Roman" pitchFamily="18" charset="0"/>
              </a:rPr>
              <a:t>DRAWBACKS</a:t>
            </a:r>
            <a:endParaRPr lang="en-IN" dirty="0"/>
          </a:p>
        </p:txBody>
      </p:sp>
      <p:sp>
        <p:nvSpPr>
          <p:cNvPr id="3" name="Content Placeholder 2">
            <a:extLst>
              <a:ext uri="{FF2B5EF4-FFF2-40B4-BE49-F238E27FC236}">
                <a16:creationId xmlns:a16="http://schemas.microsoft.com/office/drawing/2014/main" id="{ACA11F5F-F1DA-22B2-0539-707DCF2F6AF9}"/>
              </a:ext>
            </a:extLst>
          </p:cNvPr>
          <p:cNvSpPr>
            <a:spLocks noGrp="1"/>
          </p:cNvSpPr>
          <p:nvPr>
            <p:ph idx="1"/>
          </p:nvPr>
        </p:nvSpPr>
        <p:spPr>
          <a:xfrm>
            <a:off x="574813" y="1577480"/>
            <a:ext cx="10936467" cy="4396635"/>
          </a:xfrm>
        </p:spPr>
        <p:txBody>
          <a:bodyPr>
            <a:normAutofit/>
          </a:bodyPr>
          <a:lstStyle/>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Wired monitoring systems are not portable and are difficult to deploy in confined sewer environments.</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High installation and maintenance costs limit widespread adoption.</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Manual inspections put workers at direct risk from toxic gases and hazardous materials.</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Limited adaptability and real-time monitoring capabilities reduce responsiveness to sudden hazardous conditions.</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Existing systems may not provide continuous data over long distances or across large sewer networks</a:t>
            </a:r>
            <a:endParaRPr lang="en-IN" sz="1600" dirty="0"/>
          </a:p>
        </p:txBody>
      </p:sp>
      <p:sp>
        <p:nvSpPr>
          <p:cNvPr id="4" name="Slide Number Placeholder 3">
            <a:extLst>
              <a:ext uri="{FF2B5EF4-FFF2-40B4-BE49-F238E27FC236}">
                <a16:creationId xmlns:a16="http://schemas.microsoft.com/office/drawing/2014/main" id="{AF037CFC-1744-9354-EC53-59879B911011}"/>
              </a:ext>
            </a:extLst>
          </p:cNvPr>
          <p:cNvSpPr>
            <a:spLocks noGrp="1"/>
          </p:cNvSpPr>
          <p:nvPr>
            <p:ph type="sldNum" sz="quarter" idx="12"/>
          </p:nvPr>
        </p:nvSpPr>
        <p:spPr/>
        <p:txBody>
          <a:bodyPr/>
          <a:lstStyle/>
          <a:p>
            <a:fld id="{ED0A4932-3B2E-45C6-B621-E5DE29EAC2DE}" type="slidenum">
              <a:rPr lang="en-IN" smtClean="0"/>
              <a:pPr/>
              <a:t>6</a:t>
            </a:fld>
            <a:endParaRPr lang="en-IN" dirty="0"/>
          </a:p>
        </p:txBody>
      </p:sp>
    </p:spTree>
    <p:extLst>
      <p:ext uri="{BB962C8B-B14F-4D97-AF65-F5344CB8AC3E}">
        <p14:creationId xmlns:p14="http://schemas.microsoft.com/office/powerpoint/2010/main" val="887463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7B468-DF84-1B3C-558A-56F6118DCE06}"/>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PROPOSED SYSTEM</a:t>
            </a:r>
            <a:endParaRPr lang="en-IN" dirty="0"/>
          </a:p>
        </p:txBody>
      </p:sp>
      <p:sp>
        <p:nvSpPr>
          <p:cNvPr id="3" name="Content Placeholder 2">
            <a:extLst>
              <a:ext uri="{FF2B5EF4-FFF2-40B4-BE49-F238E27FC236}">
                <a16:creationId xmlns:a16="http://schemas.microsoft.com/office/drawing/2014/main" id="{C877AEBD-E641-3457-E6E4-CB4A02E6B359}"/>
              </a:ext>
            </a:extLst>
          </p:cNvPr>
          <p:cNvSpPr>
            <a:spLocks noGrp="1"/>
          </p:cNvSpPr>
          <p:nvPr>
            <p:ph idx="1"/>
          </p:nvPr>
        </p:nvSpPr>
        <p:spPr>
          <a:xfrm>
            <a:off x="490837" y="1400198"/>
            <a:ext cx="10936467" cy="4396635"/>
          </a:xfrm>
        </p:spPr>
        <p:txBody>
          <a:bodyPr>
            <a:normAutofit fontScale="62500" lnSpcReduction="20000"/>
          </a:bodyPr>
          <a:lstStyle/>
          <a:p>
            <a:pPr algn="just">
              <a:lnSpc>
                <a:spcPct val="150000"/>
              </a:lnSpc>
            </a:pPr>
            <a:r>
              <a:rPr lang="en-GB" sz="2600" dirty="0">
                <a:latin typeface="Times New Roman" panose="02020603050405020304" pitchFamily="18" charset="0"/>
                <a:cs typeface="Times New Roman" panose="02020603050405020304" pitchFamily="18" charset="0"/>
              </a:rPr>
              <a:t>The proposed system introduces a </a:t>
            </a:r>
            <a:r>
              <a:rPr lang="en-GB" sz="2600" b="1" dirty="0">
                <a:latin typeface="Times New Roman" panose="02020603050405020304" pitchFamily="18" charset="0"/>
                <a:cs typeface="Times New Roman" panose="02020603050405020304" pitchFamily="18" charset="0"/>
              </a:rPr>
              <a:t>real-time wearable safety monitoring framework</a:t>
            </a:r>
            <a:r>
              <a:rPr lang="en-GB" sz="2600" dirty="0">
                <a:latin typeface="Times New Roman" panose="02020603050405020304" pitchFamily="18" charset="0"/>
                <a:cs typeface="Times New Roman" panose="02020603050405020304" pitchFamily="18" charset="0"/>
              </a:rPr>
              <a:t> for sewage and wastewater treatment environments to protect workers operating in hazardous sewer manholes. The system integrates compact environmental sensing modules within a wearable unit to continuously monitor </a:t>
            </a:r>
            <a:r>
              <a:rPr lang="en-GB" sz="2600" b="1" dirty="0">
                <a:latin typeface="Times New Roman" panose="02020603050405020304" pitchFamily="18" charset="0"/>
                <a:cs typeface="Times New Roman" panose="02020603050405020304" pitchFamily="18" charset="0"/>
              </a:rPr>
              <a:t>temperature, moisture levels, and toxic gas concentrations</a:t>
            </a:r>
            <a:r>
              <a:rPr lang="en-GB" sz="2600" dirty="0">
                <a:latin typeface="Times New Roman" panose="02020603050405020304" pitchFamily="18" charset="0"/>
                <a:cs typeface="Times New Roman" panose="02020603050405020304" pitchFamily="18" charset="0"/>
              </a:rPr>
              <a:t> in the surrounding environment.</a:t>
            </a:r>
          </a:p>
          <a:p>
            <a:pPr algn="just">
              <a:lnSpc>
                <a:spcPct val="150000"/>
              </a:lnSpc>
            </a:pPr>
            <a:r>
              <a:rPr lang="en-GB" sz="2600" dirty="0">
                <a:latin typeface="Times New Roman" panose="02020603050405020304" pitchFamily="18" charset="0"/>
                <a:cs typeface="Times New Roman" panose="02020603050405020304" pitchFamily="18" charset="0"/>
              </a:rPr>
              <a:t>The wearable unit wirelessly transmits sensed data using </a:t>
            </a:r>
            <a:r>
              <a:rPr lang="en-GB" sz="2600" b="1" dirty="0">
                <a:latin typeface="Times New Roman" panose="02020603050405020304" pitchFamily="18" charset="0"/>
                <a:cs typeface="Times New Roman" panose="02020603050405020304" pitchFamily="18" charset="0"/>
              </a:rPr>
              <a:t>LoRa-based long-range communication</a:t>
            </a:r>
            <a:r>
              <a:rPr lang="en-GB" sz="2600" dirty="0">
                <a:latin typeface="Times New Roman" panose="02020603050405020304" pitchFamily="18" charset="0"/>
                <a:cs typeface="Times New Roman" panose="02020603050405020304" pitchFamily="18" charset="0"/>
              </a:rPr>
              <a:t> to a centralized monitoring station. This enables reliable data transmission over extended distances while maintaining low power consumption, making the system suitable for underground and confined spaces. The central unit continuously </a:t>
            </a:r>
            <a:r>
              <a:rPr lang="en-GB" sz="2600" dirty="0" err="1">
                <a:latin typeface="Times New Roman" panose="02020603050405020304" pitchFamily="18" charset="0"/>
                <a:cs typeface="Times New Roman" panose="02020603050405020304" pitchFamily="18" charset="0"/>
              </a:rPr>
              <a:t>analyzes</a:t>
            </a:r>
            <a:r>
              <a:rPr lang="en-GB" sz="2600" dirty="0">
                <a:latin typeface="Times New Roman" panose="02020603050405020304" pitchFamily="18" charset="0"/>
                <a:cs typeface="Times New Roman" panose="02020603050405020304" pitchFamily="18" charset="0"/>
              </a:rPr>
              <a:t> incoming data and compares it against predefined safety thresholds.</a:t>
            </a:r>
          </a:p>
          <a:p>
            <a:pPr algn="just">
              <a:lnSpc>
                <a:spcPct val="150000"/>
              </a:lnSpc>
            </a:pPr>
            <a:r>
              <a:rPr lang="en-GB" sz="2600" dirty="0">
                <a:latin typeface="Times New Roman" panose="02020603050405020304" pitchFamily="18" charset="0"/>
                <a:cs typeface="Times New Roman" panose="02020603050405020304" pitchFamily="18" charset="0"/>
              </a:rPr>
              <a:t>When abnormal or unsafe environmental conditions are detected, the system immediately triggers </a:t>
            </a:r>
            <a:r>
              <a:rPr lang="en-GB" sz="2600" b="1" dirty="0">
                <a:latin typeface="Times New Roman" panose="02020603050405020304" pitchFamily="18" charset="0"/>
                <a:cs typeface="Times New Roman" panose="02020603050405020304" pitchFamily="18" charset="0"/>
              </a:rPr>
              <a:t>real-time alerts</a:t>
            </a:r>
            <a:r>
              <a:rPr lang="en-GB" sz="2600" dirty="0">
                <a:latin typeface="Times New Roman" panose="02020603050405020304" pitchFamily="18" charset="0"/>
                <a:cs typeface="Times New Roman" panose="02020603050405020304" pitchFamily="18" charset="0"/>
              </a:rPr>
              <a:t> to both on-site workers and supervisory personnel. Alerts enable rapid decision-making, evacuation, or corrective action, thereby minimizing health risks and preventing fatal accidents. The system is designed with a </a:t>
            </a:r>
            <a:r>
              <a:rPr lang="en-GB" sz="2600" b="1" dirty="0">
                <a:latin typeface="Times New Roman" panose="02020603050405020304" pitchFamily="18" charset="0"/>
                <a:cs typeface="Times New Roman" panose="02020603050405020304" pitchFamily="18" charset="0"/>
              </a:rPr>
              <a:t>portable, low-cost, and user-friendly architecture</a:t>
            </a:r>
            <a:r>
              <a:rPr lang="en-GB" sz="2600" dirty="0">
                <a:latin typeface="Times New Roman" panose="02020603050405020304" pitchFamily="18" charset="0"/>
                <a:cs typeface="Times New Roman" panose="02020603050405020304" pitchFamily="18" charset="0"/>
              </a:rPr>
              <a:t>, allowing seamless integration into routine work activities without causing discomfort or operational interference.</a:t>
            </a:r>
          </a:p>
          <a:p>
            <a:endParaRPr lang="en-IN" dirty="0"/>
          </a:p>
        </p:txBody>
      </p:sp>
      <p:sp>
        <p:nvSpPr>
          <p:cNvPr id="4" name="Slide Number Placeholder 3">
            <a:extLst>
              <a:ext uri="{FF2B5EF4-FFF2-40B4-BE49-F238E27FC236}">
                <a16:creationId xmlns:a16="http://schemas.microsoft.com/office/drawing/2014/main" id="{EEB11225-2DD8-A392-E333-51EDA80A904F}"/>
              </a:ext>
            </a:extLst>
          </p:cNvPr>
          <p:cNvSpPr>
            <a:spLocks noGrp="1"/>
          </p:cNvSpPr>
          <p:nvPr>
            <p:ph type="sldNum" sz="quarter" idx="12"/>
          </p:nvPr>
        </p:nvSpPr>
        <p:spPr/>
        <p:txBody>
          <a:bodyPr/>
          <a:lstStyle/>
          <a:p>
            <a:fld id="{ED0A4932-3B2E-45C6-B621-E5DE29EAC2DE}" type="slidenum">
              <a:rPr lang="en-IN" smtClean="0"/>
              <a:pPr/>
              <a:t>7</a:t>
            </a:fld>
            <a:endParaRPr lang="en-IN" dirty="0"/>
          </a:p>
        </p:txBody>
      </p:sp>
    </p:spTree>
    <p:extLst>
      <p:ext uri="{BB962C8B-B14F-4D97-AF65-F5344CB8AC3E}">
        <p14:creationId xmlns:p14="http://schemas.microsoft.com/office/powerpoint/2010/main" val="2451642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6DB7B-3381-B3B7-2DA2-0EADF702A021}"/>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ADVANTAGES</a:t>
            </a:r>
            <a:endParaRPr lang="en-IN" dirty="0"/>
          </a:p>
        </p:txBody>
      </p:sp>
      <p:sp>
        <p:nvSpPr>
          <p:cNvPr id="3" name="Content Placeholder 2">
            <a:extLst>
              <a:ext uri="{FF2B5EF4-FFF2-40B4-BE49-F238E27FC236}">
                <a16:creationId xmlns:a16="http://schemas.microsoft.com/office/drawing/2014/main" id="{FBEB85A8-5DB1-9B77-1999-8DED6894148B}"/>
              </a:ext>
            </a:extLst>
          </p:cNvPr>
          <p:cNvSpPr>
            <a:spLocks noGrp="1"/>
          </p:cNvSpPr>
          <p:nvPr>
            <p:ph idx="1"/>
          </p:nvPr>
        </p:nvSpPr>
        <p:spPr/>
        <p:txBody>
          <a:bodyPr>
            <a:normAutofit/>
          </a:bodyPr>
          <a:lstStyle/>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Enhances worker safety by continuously monitoring hazardous environmental conditions in sewage and wastewater environments.</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Provides real-time alerts when toxic gas levels or unsafe conditions exceed permissible limits, enabling rapid response.</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Enables reliable long-distance communication in confined and underground spaces through LoRa wireless technology.</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Operates with low power consumption, allowing extended usage without frequent battery replacement.</a:t>
            </a:r>
          </a:p>
          <a:p>
            <a:pPr lvl="0" algn="just">
              <a:lnSpc>
                <a:spcPct val="150000"/>
              </a:lnSpc>
              <a:buFont typeface="Symbol" panose="05050102010706020507" pitchFamily="18" charset="2"/>
              <a:buChar char=""/>
              <a:tabLst>
                <a:tab pos="457200" algn="l"/>
                <a:tab pos="1496060" algn="l"/>
              </a:tabLst>
            </a:pPr>
            <a:r>
              <a:rPr lang="en-GB"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Offers a portable and wearable design that does not interfere with routine work activities</a:t>
            </a:r>
            <a:endParaRPr lang="en-IN" sz="1600" dirty="0"/>
          </a:p>
        </p:txBody>
      </p:sp>
      <p:sp>
        <p:nvSpPr>
          <p:cNvPr id="4" name="Slide Number Placeholder 3">
            <a:extLst>
              <a:ext uri="{FF2B5EF4-FFF2-40B4-BE49-F238E27FC236}">
                <a16:creationId xmlns:a16="http://schemas.microsoft.com/office/drawing/2014/main" id="{7EBDBFCA-8C14-98A2-01F2-191F89C9D573}"/>
              </a:ext>
            </a:extLst>
          </p:cNvPr>
          <p:cNvSpPr>
            <a:spLocks noGrp="1"/>
          </p:cNvSpPr>
          <p:nvPr>
            <p:ph type="sldNum" sz="quarter" idx="12"/>
          </p:nvPr>
        </p:nvSpPr>
        <p:spPr/>
        <p:txBody>
          <a:bodyPr/>
          <a:lstStyle/>
          <a:p>
            <a:fld id="{ED0A4932-3B2E-45C6-B621-E5DE29EAC2DE}" type="slidenum">
              <a:rPr lang="en-IN" smtClean="0"/>
              <a:pPr/>
              <a:t>8</a:t>
            </a:fld>
            <a:endParaRPr lang="en-IN" dirty="0"/>
          </a:p>
        </p:txBody>
      </p:sp>
    </p:spTree>
    <p:extLst>
      <p:ext uri="{BB962C8B-B14F-4D97-AF65-F5344CB8AC3E}">
        <p14:creationId xmlns:p14="http://schemas.microsoft.com/office/powerpoint/2010/main" val="1849473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F1CE2-87E8-266B-CB02-75F4843DDBB9}"/>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MODULES</a:t>
            </a:r>
            <a:endParaRPr lang="en-IN" dirty="0"/>
          </a:p>
        </p:txBody>
      </p:sp>
      <p:sp>
        <p:nvSpPr>
          <p:cNvPr id="3" name="Content Placeholder 2">
            <a:extLst>
              <a:ext uri="{FF2B5EF4-FFF2-40B4-BE49-F238E27FC236}">
                <a16:creationId xmlns:a16="http://schemas.microsoft.com/office/drawing/2014/main" id="{11DBAE19-F334-DDAB-D4DE-05EB284C3E11}"/>
              </a:ext>
            </a:extLst>
          </p:cNvPr>
          <p:cNvSpPr>
            <a:spLocks noGrp="1"/>
          </p:cNvSpPr>
          <p:nvPr>
            <p:ph idx="1"/>
          </p:nvPr>
        </p:nvSpPr>
        <p:spPr/>
        <p:txBody>
          <a:bodyPr/>
          <a:lstStyle/>
          <a:p>
            <a:r>
              <a:rPr lang="en-GB" b="1" dirty="0">
                <a:latin typeface="Times New Roman" panose="02020603050405020304" pitchFamily="18" charset="0"/>
                <a:ea typeface="Calibri" panose="020F0502020204030204" pitchFamily="34" charset="0"/>
                <a:cs typeface="Times New Roman" panose="02020603050405020304" pitchFamily="18" charset="0"/>
              </a:rPr>
              <a:t>SENSOR DATA ACQUISITION MODULE</a:t>
            </a:r>
          </a:p>
          <a:p>
            <a:pPr marL="0" indent="0">
              <a:buNone/>
            </a:pPr>
            <a:r>
              <a:rPr lang="en-GB" sz="1600" dirty="0">
                <a:latin typeface="Times New Roman" panose="02020603050405020304" pitchFamily="18" charset="0"/>
                <a:cs typeface="Times New Roman" panose="02020603050405020304" pitchFamily="18" charset="0"/>
              </a:rPr>
              <a:t>This module is responsible for collecting real-time environmental and physiological data from the sewage working environment. It integrates various sensors such as temperature, humidity, toxic gas sensors (H₂S, CH₄, CO), heart rate sensors, and motion sensors. The collected data provides continuous insight into both environmental hazards and worker health conditions, forming the foundation for real-time monitoring and safety analysis.</a:t>
            </a:r>
            <a:endParaRPr lang="en-GB" sz="1600" dirty="0">
              <a:latin typeface="Times New Roman" panose="02020603050405020304" pitchFamily="18" charset="0"/>
              <a:ea typeface="Calibri" panose="020F0502020204030204" pitchFamily="34"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WEARABLE DEVICE CONTROL MODULE</a:t>
            </a:r>
            <a:endParaRPr lang="en-GB" b="1"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GB" sz="1600" dirty="0">
                <a:latin typeface="Times New Roman" panose="02020603050405020304" pitchFamily="18" charset="0"/>
                <a:ea typeface="Calibri" panose="020F0502020204030204" pitchFamily="34" charset="0"/>
                <a:cs typeface="Times New Roman" panose="02020603050405020304" pitchFamily="18" charset="0"/>
              </a:rPr>
              <a:t>This module manages the operation of the wearable monitoring unit worn by sewage workers. It controls sensor initialization, data sampling, and pre-processing using the microcontroller. The module ensures efficient power usage, portability, and uninterrupted operation while workers move across different confined sewage spaces.</a:t>
            </a:r>
          </a:p>
          <a:p>
            <a:pPr marL="0" indent="0">
              <a:buNone/>
            </a:pPr>
            <a:endParaRPr lang="en-IN" dirty="0"/>
          </a:p>
        </p:txBody>
      </p:sp>
      <p:sp>
        <p:nvSpPr>
          <p:cNvPr id="4" name="Slide Number Placeholder 3">
            <a:extLst>
              <a:ext uri="{FF2B5EF4-FFF2-40B4-BE49-F238E27FC236}">
                <a16:creationId xmlns:a16="http://schemas.microsoft.com/office/drawing/2014/main" id="{09939A66-6B21-F92C-94D4-B24824D38785}"/>
              </a:ext>
            </a:extLst>
          </p:cNvPr>
          <p:cNvSpPr>
            <a:spLocks noGrp="1"/>
          </p:cNvSpPr>
          <p:nvPr>
            <p:ph type="sldNum" sz="quarter" idx="12"/>
          </p:nvPr>
        </p:nvSpPr>
        <p:spPr/>
        <p:txBody>
          <a:bodyPr/>
          <a:lstStyle/>
          <a:p>
            <a:fld id="{ED0A4932-3B2E-45C6-B621-E5DE29EAC2DE}" type="slidenum">
              <a:rPr lang="en-IN" smtClean="0"/>
              <a:pPr/>
              <a:t>9</a:t>
            </a:fld>
            <a:endParaRPr lang="en-IN" dirty="0"/>
          </a:p>
        </p:txBody>
      </p:sp>
    </p:spTree>
    <p:extLst>
      <p:ext uri="{BB962C8B-B14F-4D97-AF65-F5344CB8AC3E}">
        <p14:creationId xmlns:p14="http://schemas.microsoft.com/office/powerpoint/2010/main" val="222365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A5EF1-58FC-51E3-9E2E-DED8B8D50115}"/>
              </a:ext>
            </a:extLst>
          </p:cNvPr>
          <p:cNvSpPr>
            <a:spLocks noGrp="1"/>
          </p:cNvSpPr>
          <p:nvPr>
            <p:ph type="title"/>
          </p:nvPr>
        </p:nvSpPr>
        <p:spPr/>
        <p:txBody>
          <a:bodyPr/>
          <a:lstStyle/>
          <a:p>
            <a:r>
              <a:rPr lang="en-US" sz="3200" dirty="0">
                <a:solidFill>
                  <a:srgbClr val="000000"/>
                </a:solidFill>
                <a:latin typeface="Times New Roman" panose="02020603050405020304" pitchFamily="18" charset="0"/>
                <a:ea typeface="Calibri" panose="020F0502020204030204" pitchFamily="34" charset="0"/>
              </a:rPr>
              <a:t>MODULES</a:t>
            </a:r>
            <a:endParaRPr lang="en-IN" dirty="0"/>
          </a:p>
        </p:txBody>
      </p:sp>
      <p:sp>
        <p:nvSpPr>
          <p:cNvPr id="3" name="Content Placeholder 2">
            <a:extLst>
              <a:ext uri="{FF2B5EF4-FFF2-40B4-BE49-F238E27FC236}">
                <a16:creationId xmlns:a16="http://schemas.microsoft.com/office/drawing/2014/main" id="{EFA2462A-3EA1-F493-AB85-0A9472BF4407}"/>
              </a:ext>
            </a:extLst>
          </p:cNvPr>
          <p:cNvSpPr>
            <a:spLocks noGrp="1"/>
          </p:cNvSpPr>
          <p:nvPr>
            <p:ph idx="1"/>
          </p:nvPr>
        </p:nvSpPr>
        <p:spPr/>
        <p:txBody>
          <a:bodyPr/>
          <a:lstStyle/>
          <a:p>
            <a:r>
              <a:rPr lang="en-GB" b="1" dirty="0">
                <a:latin typeface="Times New Roman" panose="02020603050405020304" pitchFamily="18" charset="0"/>
                <a:ea typeface="Calibri" panose="020F0502020204030204" pitchFamily="34" charset="0"/>
                <a:cs typeface="Times New Roman" panose="02020603050405020304" pitchFamily="18" charset="0"/>
              </a:rPr>
              <a:t>TOXIC GAS DETECTION AND THRESHOLD ANALYSIS MODULE</a:t>
            </a:r>
          </a:p>
          <a:p>
            <a:pPr marL="0" indent="0">
              <a:buNone/>
            </a:pPr>
            <a:r>
              <a:rPr lang="en-GB" sz="1600" dirty="0">
                <a:latin typeface="Times New Roman" panose="02020603050405020304" pitchFamily="18" charset="0"/>
                <a:ea typeface="Calibri" panose="020F0502020204030204" pitchFamily="34" charset="0"/>
                <a:cs typeface="Times New Roman" panose="02020603050405020304" pitchFamily="18" charset="0"/>
              </a:rPr>
              <a:t>This module continuously evaluates gas concentration levels against predefined safety thresholds. When toxic gases exceed permissible limits, the system identifies hazardous conditions instantly. This module plays a critical role in preventing exposure-related accidents by enabling early detection of dangerous sewage gases.</a:t>
            </a:r>
          </a:p>
          <a:p>
            <a:r>
              <a:rPr lang="en-GB" b="1" dirty="0">
                <a:latin typeface="Times New Roman" panose="02020603050405020304" pitchFamily="18" charset="0"/>
                <a:cs typeface="Times New Roman" panose="02020603050405020304" pitchFamily="18" charset="0"/>
              </a:rPr>
              <a:t>PHYSIOLOGICAL MONITORING MODULE</a:t>
            </a:r>
          </a:p>
          <a:p>
            <a:pPr marL="0" indent="0">
              <a:buNone/>
            </a:pPr>
            <a:r>
              <a:rPr lang="en-GB" sz="1600" dirty="0">
                <a:latin typeface="Times New Roman" panose="02020603050405020304" pitchFamily="18" charset="0"/>
                <a:ea typeface="Calibri" panose="020F0502020204030204" pitchFamily="34" charset="0"/>
                <a:cs typeface="Times New Roman" panose="02020603050405020304" pitchFamily="18" charset="0"/>
              </a:rPr>
              <a:t>This module focuses on aligning words within the dataset, ensuring coherence and consistency in the representation of opinions. By aligning words based on their syntactic and semantic relationships, it enhances the effectiveness of subsequent sentiment analysis tasks.</a:t>
            </a:r>
          </a:p>
          <a:p>
            <a:pPr marL="0" indent="0">
              <a:buNone/>
            </a:pPr>
            <a:endParaRPr lang="en-GB"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F49EADF-CFFD-2E70-D62B-78775C39B885}"/>
              </a:ext>
            </a:extLst>
          </p:cNvPr>
          <p:cNvSpPr>
            <a:spLocks noGrp="1"/>
          </p:cNvSpPr>
          <p:nvPr>
            <p:ph type="sldNum" sz="quarter" idx="12"/>
          </p:nvPr>
        </p:nvSpPr>
        <p:spPr/>
        <p:txBody>
          <a:bodyPr/>
          <a:lstStyle/>
          <a:p>
            <a:fld id="{ED0A4932-3B2E-45C6-B621-E5DE29EAC2DE}" type="slidenum">
              <a:rPr lang="en-IN" smtClean="0"/>
              <a:pPr/>
              <a:t>10</a:t>
            </a:fld>
            <a:endParaRPr lang="en-IN" dirty="0"/>
          </a:p>
        </p:txBody>
      </p:sp>
    </p:spTree>
    <p:extLst>
      <p:ext uri="{BB962C8B-B14F-4D97-AF65-F5344CB8AC3E}">
        <p14:creationId xmlns:p14="http://schemas.microsoft.com/office/powerpoint/2010/main" val="2285885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02C0-ACCB-FA2A-A7A6-D6818764FA00}"/>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MODULES</a:t>
            </a:r>
            <a:endParaRPr lang="en-IN" dirty="0"/>
          </a:p>
        </p:txBody>
      </p:sp>
      <p:sp>
        <p:nvSpPr>
          <p:cNvPr id="3" name="Content Placeholder 2">
            <a:extLst>
              <a:ext uri="{FF2B5EF4-FFF2-40B4-BE49-F238E27FC236}">
                <a16:creationId xmlns:a16="http://schemas.microsoft.com/office/drawing/2014/main" id="{D356AD14-B642-BA6F-8E37-236E955AE549}"/>
              </a:ext>
            </a:extLst>
          </p:cNvPr>
          <p:cNvSpPr>
            <a:spLocks noGrp="1"/>
          </p:cNvSpPr>
          <p:nvPr>
            <p:ph idx="1"/>
          </p:nvPr>
        </p:nvSpPr>
        <p:spPr>
          <a:xfrm>
            <a:off x="574813" y="1465513"/>
            <a:ext cx="10936467" cy="4396635"/>
          </a:xfrm>
        </p:spPr>
        <p:txBody>
          <a:bodyPr>
            <a:normAutofit fontScale="85000" lnSpcReduction="10000"/>
          </a:bodyPr>
          <a:lstStyle/>
          <a:p>
            <a:pPr algn="just">
              <a:lnSpc>
                <a:spcPct val="150000"/>
              </a:lnSpc>
              <a:spcAft>
                <a:spcPts val="1000"/>
              </a:spcAft>
            </a:pPr>
            <a:r>
              <a:rPr lang="en-GB" b="1" dirty="0">
                <a:latin typeface="Times New Roman" panose="02020603050405020304" pitchFamily="18" charset="0"/>
                <a:ea typeface="Calibri" panose="020F0502020204030204" pitchFamily="34" charset="0"/>
                <a:cs typeface="Times New Roman" panose="02020603050405020304" pitchFamily="18" charset="0"/>
              </a:rPr>
              <a:t>MOTION AND FALL DETECTION MODULE</a:t>
            </a:r>
          </a:p>
          <a:p>
            <a:pPr marL="0" indent="0" algn="just">
              <a:lnSpc>
                <a:spcPct val="150000"/>
              </a:lnSpc>
              <a:spcAft>
                <a:spcPts val="1000"/>
              </a:spcAft>
              <a:buNone/>
            </a:pPr>
            <a:r>
              <a:rPr lang="en-GB" dirty="0">
                <a:latin typeface="Times New Roman" panose="02020603050405020304" pitchFamily="18" charset="0"/>
                <a:ea typeface="Calibri" panose="020F0502020204030204" pitchFamily="34" charset="0"/>
                <a:cs typeface="Times New Roman" panose="02020603050405020304" pitchFamily="18" charset="0"/>
              </a:rPr>
              <a:t> Using motion and acceleration sensors, this module detects abnormal movements such as slips, falls, or sudden impacts. By analysing orientation and acceleration patterns, it helps identify accidents in confined and low-visibility sewage environments, allowing for quick emergency response.</a:t>
            </a:r>
          </a:p>
          <a:p>
            <a:pPr algn="just">
              <a:lnSpc>
                <a:spcPct val="150000"/>
              </a:lnSpc>
              <a:spcAft>
                <a:spcPts val="1000"/>
              </a:spcAft>
            </a:pPr>
            <a:r>
              <a:rPr lang="en-GB" b="1" dirty="0">
                <a:latin typeface="Times New Roman" panose="02020603050405020304" pitchFamily="18" charset="0"/>
                <a:ea typeface="Calibri" panose="020F0502020204030204" pitchFamily="34" charset="0"/>
                <a:cs typeface="Times New Roman" panose="02020603050405020304" pitchFamily="18" charset="0"/>
              </a:rPr>
              <a:t>LORA-BASED WIRELESS COMMUNICATION MODULE </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spcAft>
                <a:spcPts val="1000"/>
              </a:spcAft>
              <a:buNone/>
            </a:pPr>
            <a:r>
              <a:rPr lang="en-GB" dirty="0">
                <a:latin typeface="Times New Roman" panose="02020603050405020304" pitchFamily="18" charset="0"/>
                <a:ea typeface="Calibri" panose="020F0502020204030204" pitchFamily="34" charset="0"/>
                <a:cs typeface="Times New Roman" panose="02020603050405020304" pitchFamily="18" charset="0"/>
              </a:rPr>
              <a:t> This module enables long-range, low-power wireless transmission of sensor data using LoRa technology. It ensures reliable communication between the wearable device and the central monitoring unit, even in underground or remote sewage locations where wired networks are impractical.</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922DF815-03E4-B637-EA50-9349E93878D1}"/>
              </a:ext>
            </a:extLst>
          </p:cNvPr>
          <p:cNvSpPr>
            <a:spLocks noGrp="1"/>
          </p:cNvSpPr>
          <p:nvPr>
            <p:ph type="sldNum" sz="quarter" idx="12"/>
          </p:nvPr>
        </p:nvSpPr>
        <p:spPr/>
        <p:txBody>
          <a:bodyPr/>
          <a:lstStyle/>
          <a:p>
            <a:fld id="{ED0A4932-3B2E-45C6-B621-E5DE29EAC2DE}" type="slidenum">
              <a:rPr lang="en-IN" smtClean="0"/>
              <a:pPr/>
              <a:t>11</a:t>
            </a:fld>
            <a:endParaRPr lang="en-IN" dirty="0"/>
          </a:p>
        </p:txBody>
      </p:sp>
    </p:spTree>
    <p:extLst>
      <p:ext uri="{BB962C8B-B14F-4D97-AF65-F5344CB8AC3E}">
        <p14:creationId xmlns:p14="http://schemas.microsoft.com/office/powerpoint/2010/main" val="410607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C9A75-DA0B-503A-3549-1F9C3E484C62}"/>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MODULES</a:t>
            </a:r>
            <a:endParaRPr lang="en-IN" dirty="0"/>
          </a:p>
        </p:txBody>
      </p:sp>
      <p:sp>
        <p:nvSpPr>
          <p:cNvPr id="3" name="Content Placeholder 2">
            <a:extLst>
              <a:ext uri="{FF2B5EF4-FFF2-40B4-BE49-F238E27FC236}">
                <a16:creationId xmlns:a16="http://schemas.microsoft.com/office/drawing/2014/main" id="{F356EA3D-9E0E-A488-CE27-A58038068BF3}"/>
              </a:ext>
            </a:extLst>
          </p:cNvPr>
          <p:cNvSpPr>
            <a:spLocks noGrp="1"/>
          </p:cNvSpPr>
          <p:nvPr>
            <p:ph idx="1"/>
          </p:nvPr>
        </p:nvSpPr>
        <p:spPr>
          <a:xfrm>
            <a:off x="574813" y="1316211"/>
            <a:ext cx="10936467" cy="4396635"/>
          </a:xfrm>
        </p:spPr>
        <p:txBody>
          <a:bodyPr>
            <a:normAutofit fontScale="85000" lnSpcReduction="20000"/>
          </a:bodyPr>
          <a:lstStyle/>
          <a:p>
            <a:pPr algn="just">
              <a:lnSpc>
                <a:spcPct val="150000"/>
              </a:lnSpc>
              <a:spcAft>
                <a:spcPts val="1000"/>
              </a:spcAft>
            </a:pPr>
            <a:r>
              <a:rPr lang="en-GB" b="1" dirty="0">
                <a:latin typeface="Times New Roman" panose="02020603050405020304" pitchFamily="18" charset="0"/>
                <a:ea typeface="Calibri" panose="020F0502020204030204" pitchFamily="34" charset="0"/>
                <a:cs typeface="Times New Roman" panose="02020603050405020304" pitchFamily="18" charset="0"/>
              </a:rPr>
              <a:t>ALERT AND NOTIFICATION MODULE</a:t>
            </a:r>
          </a:p>
          <a:p>
            <a:pPr marL="0" indent="0" algn="just">
              <a:lnSpc>
                <a:spcPct val="150000"/>
              </a:lnSpc>
              <a:spcAft>
                <a:spcPts val="1000"/>
              </a:spcAft>
              <a:buNone/>
            </a:pPr>
            <a:r>
              <a:rPr lang="en-GB" dirty="0">
                <a:latin typeface="Times New Roman" panose="02020603050405020304" pitchFamily="18" charset="0"/>
                <a:ea typeface="Calibri" panose="020F0502020204030204" pitchFamily="34" charset="0"/>
                <a:cs typeface="Times New Roman" panose="02020603050405020304" pitchFamily="18" charset="0"/>
              </a:rPr>
              <a:t>This module generates real-time alerts when unsafe conditions are detected. Alerts are provided to workers through vibration signals and to supervisors via the control unit or communication network. The two-phase alert mechanism helps reduce false alarms while ensuring timely warnings during critical situations.</a:t>
            </a:r>
          </a:p>
          <a:p>
            <a:pPr algn="just">
              <a:lnSpc>
                <a:spcPct val="150000"/>
              </a:lnSpc>
              <a:spcAft>
                <a:spcPts val="1000"/>
              </a:spcAft>
            </a:pPr>
            <a:r>
              <a:rPr lang="en-GB" b="1" dirty="0">
                <a:latin typeface="Times New Roman" panose="02020603050405020304" pitchFamily="18" charset="0"/>
                <a:ea typeface="Calibri" panose="020F0502020204030204" pitchFamily="34" charset="0"/>
                <a:cs typeface="Times New Roman" panose="02020603050405020304" pitchFamily="18" charset="0"/>
              </a:rPr>
              <a:t>CENTRAL MONITORING AND DATA LOGGING MODULE</a:t>
            </a:r>
          </a:p>
          <a:p>
            <a:pPr marL="0" indent="0" algn="just">
              <a:lnSpc>
                <a:spcPct val="150000"/>
              </a:lnSpc>
              <a:spcAft>
                <a:spcPts val="1000"/>
              </a:spcAft>
              <a:buNone/>
            </a:pPr>
            <a:r>
              <a:rPr lang="en-GB" dirty="0">
                <a:latin typeface="Times New Roman" panose="02020603050405020304" pitchFamily="18" charset="0"/>
                <a:ea typeface="Calibri" panose="020F0502020204030204" pitchFamily="34" charset="0"/>
                <a:cs typeface="Times New Roman" panose="02020603050405020304" pitchFamily="18" charset="0"/>
              </a:rPr>
              <a:t>This module receives real-time data from multiple wearable devices and displays it on a centralized dashboard. It stores sensor readings for analysis, reporting, and future reference. The module supports decision-making by providing a clear overview of environmental conditions and worker safety status</a:t>
            </a:r>
            <a:endParaRPr lang="en-IN" dirty="0"/>
          </a:p>
        </p:txBody>
      </p:sp>
      <p:sp>
        <p:nvSpPr>
          <p:cNvPr id="4" name="Slide Number Placeholder 3">
            <a:extLst>
              <a:ext uri="{FF2B5EF4-FFF2-40B4-BE49-F238E27FC236}">
                <a16:creationId xmlns:a16="http://schemas.microsoft.com/office/drawing/2014/main" id="{8DC062D5-6C90-8A8E-B66A-E8D7D22BCE9A}"/>
              </a:ext>
            </a:extLst>
          </p:cNvPr>
          <p:cNvSpPr>
            <a:spLocks noGrp="1"/>
          </p:cNvSpPr>
          <p:nvPr>
            <p:ph type="sldNum" sz="quarter" idx="12"/>
          </p:nvPr>
        </p:nvSpPr>
        <p:spPr/>
        <p:txBody>
          <a:bodyPr/>
          <a:lstStyle/>
          <a:p>
            <a:fld id="{ED0A4932-3B2E-45C6-B621-E5DE29EAC2DE}" type="slidenum">
              <a:rPr lang="en-IN" smtClean="0"/>
              <a:pPr/>
              <a:t>12</a:t>
            </a:fld>
            <a:endParaRPr lang="en-IN" dirty="0"/>
          </a:p>
        </p:txBody>
      </p:sp>
    </p:spTree>
    <p:extLst>
      <p:ext uri="{BB962C8B-B14F-4D97-AF65-F5344CB8AC3E}">
        <p14:creationId xmlns:p14="http://schemas.microsoft.com/office/powerpoint/2010/main" val="348192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97D0-4E6F-EB20-0B3F-3695B4BDC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F0567-661E-B68C-5701-5ECB882436B1}"/>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SYSTEM FLOW DIAGRAM</a:t>
            </a:r>
            <a:endParaRPr lang="en-IN" dirty="0"/>
          </a:p>
        </p:txBody>
      </p:sp>
      <p:sp>
        <p:nvSpPr>
          <p:cNvPr id="4" name="Slide Number Placeholder 3">
            <a:extLst>
              <a:ext uri="{FF2B5EF4-FFF2-40B4-BE49-F238E27FC236}">
                <a16:creationId xmlns:a16="http://schemas.microsoft.com/office/drawing/2014/main" id="{8A715F80-FE1A-9CC7-A6FF-688FAE1F4A02}"/>
              </a:ext>
            </a:extLst>
          </p:cNvPr>
          <p:cNvSpPr>
            <a:spLocks noGrp="1"/>
          </p:cNvSpPr>
          <p:nvPr>
            <p:ph type="sldNum" sz="quarter" idx="12"/>
          </p:nvPr>
        </p:nvSpPr>
        <p:spPr>
          <a:xfrm>
            <a:off x="9423638" y="6335387"/>
            <a:ext cx="2743200" cy="365125"/>
          </a:xfrm>
        </p:spPr>
        <p:txBody>
          <a:bodyPr/>
          <a:lstStyle/>
          <a:p>
            <a:fld id="{ED0A4932-3B2E-45C6-B621-E5DE29EAC2DE}" type="slidenum">
              <a:rPr lang="en-IN" smtClean="0"/>
              <a:pPr/>
              <a:t>13</a:t>
            </a:fld>
            <a:endParaRPr lang="en-IN"/>
          </a:p>
        </p:txBody>
      </p:sp>
      <p:pic>
        <p:nvPicPr>
          <p:cNvPr id="5" name="Content Placeholder 4">
            <a:extLst>
              <a:ext uri="{FF2B5EF4-FFF2-40B4-BE49-F238E27FC236}">
                <a16:creationId xmlns:a16="http://schemas.microsoft.com/office/drawing/2014/main" id="{F335AFCD-EB78-A0B0-8A65-667E387BA4D2}"/>
              </a:ext>
            </a:extLst>
          </p:cNvPr>
          <p:cNvPicPr>
            <a:picLocks noGrp="1" noChangeAspect="1"/>
          </p:cNvPicPr>
          <p:nvPr>
            <p:ph idx="1"/>
          </p:nvPr>
        </p:nvPicPr>
        <p:blipFill>
          <a:blip r:embed="rId2"/>
          <a:stretch>
            <a:fillRect/>
          </a:stretch>
        </p:blipFill>
        <p:spPr>
          <a:xfrm>
            <a:off x="2715208" y="1227224"/>
            <a:ext cx="6335485" cy="5197150"/>
          </a:xfrm>
          <a:prstGeom prst="rect">
            <a:avLst/>
          </a:prstGeom>
        </p:spPr>
      </p:pic>
    </p:spTree>
    <p:extLst>
      <p:ext uri="{BB962C8B-B14F-4D97-AF65-F5344CB8AC3E}">
        <p14:creationId xmlns:p14="http://schemas.microsoft.com/office/powerpoint/2010/main" val="2011121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471FD-32DD-25EE-847B-E56A5288EE92}"/>
              </a:ext>
            </a:extLst>
          </p:cNvPr>
          <p:cNvSpPr>
            <a:spLocks noGrp="1"/>
          </p:cNvSpPr>
          <p:nvPr>
            <p:ph type="title"/>
          </p:nvPr>
        </p:nvSpPr>
        <p:spPr/>
        <p:txBody>
          <a:bodyPr/>
          <a:lstStyle/>
          <a:p>
            <a:r>
              <a:rPr lang="en-US" sz="2800" dirty="0">
                <a:solidFill>
                  <a:srgbClr val="000000"/>
                </a:solidFill>
                <a:latin typeface="Times New Roman" panose="02020603050405020304" pitchFamily="18" charset="0"/>
                <a:ea typeface="Calibri" panose="020F0502020204030204" pitchFamily="34" charset="0"/>
              </a:rPr>
              <a:t>CONCLUSION</a:t>
            </a:r>
            <a:endParaRPr lang="en-IN" dirty="0"/>
          </a:p>
        </p:txBody>
      </p:sp>
      <p:sp>
        <p:nvSpPr>
          <p:cNvPr id="3" name="Content Placeholder 2">
            <a:extLst>
              <a:ext uri="{FF2B5EF4-FFF2-40B4-BE49-F238E27FC236}">
                <a16:creationId xmlns:a16="http://schemas.microsoft.com/office/drawing/2014/main" id="{06AEDAAE-B32C-E912-1D6B-032F76F9AC33}"/>
              </a:ext>
            </a:extLst>
          </p:cNvPr>
          <p:cNvSpPr>
            <a:spLocks noGrp="1"/>
          </p:cNvSpPr>
          <p:nvPr>
            <p:ph idx="1"/>
          </p:nvPr>
        </p:nvSpPr>
        <p:spPr/>
        <p:txBody>
          <a:bodyPr>
            <a:normAutofit/>
          </a:bodyPr>
          <a:lstStyle/>
          <a:p>
            <a:pPr algn="just">
              <a:lnSpc>
                <a:spcPct val="150000"/>
              </a:lnSpc>
              <a:spcAft>
                <a:spcPts val="1000"/>
              </a:spcAft>
              <a:tabLst>
                <a:tab pos="1496060" algn="l"/>
              </a:tabLst>
            </a:pPr>
            <a:r>
              <a:rPr lang="en-GB" sz="1600" dirty="0">
                <a:latin typeface="Times New Roman" panose="02020603050405020304" pitchFamily="18" charset="0"/>
                <a:cs typeface="Times New Roman" panose="02020603050405020304" pitchFamily="18" charset="0"/>
              </a:rPr>
              <a:t>In conclusion, the proposed IoT-based sewage quality monitoring system provides a reliable and energy-efficient solution for real-time environmental monitoring. </a:t>
            </a:r>
          </a:p>
          <a:p>
            <a:pPr algn="just">
              <a:lnSpc>
                <a:spcPct val="150000"/>
              </a:lnSpc>
              <a:spcAft>
                <a:spcPts val="1000"/>
              </a:spcAft>
              <a:tabLst>
                <a:tab pos="1496060" algn="l"/>
              </a:tabLst>
            </a:pPr>
            <a:r>
              <a:rPr lang="en-GB" sz="1600" dirty="0">
                <a:latin typeface="Times New Roman" panose="02020603050405020304" pitchFamily="18" charset="0"/>
                <a:cs typeface="Times New Roman" panose="02020603050405020304" pitchFamily="18" charset="0"/>
              </a:rPr>
              <a:t>By integrating decentralized data management with long-range </a:t>
            </a:r>
            <a:r>
              <a:rPr lang="en-GB" sz="1600" dirty="0" err="1">
                <a:latin typeface="Times New Roman" panose="02020603050405020304" pitchFamily="18" charset="0"/>
                <a:cs typeface="Times New Roman" panose="02020603050405020304" pitchFamily="18" charset="0"/>
              </a:rPr>
              <a:t>LoRaWAN</a:t>
            </a:r>
            <a:r>
              <a:rPr lang="en-GB" sz="1600" dirty="0">
                <a:latin typeface="Times New Roman" panose="02020603050405020304" pitchFamily="18" charset="0"/>
                <a:cs typeface="Times New Roman" panose="02020603050405020304" pitchFamily="18" charset="0"/>
              </a:rPr>
              <a:t> communication, the system ensures secure, transparent, and continuous data transmission even in remote and harsh environments. </a:t>
            </a:r>
          </a:p>
          <a:p>
            <a:pPr algn="just">
              <a:lnSpc>
                <a:spcPct val="150000"/>
              </a:lnSpc>
              <a:spcAft>
                <a:spcPts val="1000"/>
              </a:spcAft>
              <a:tabLst>
                <a:tab pos="1496060" algn="l"/>
              </a:tabLst>
            </a:pPr>
            <a:r>
              <a:rPr lang="en-GB" sz="1600" dirty="0">
                <a:latin typeface="Times New Roman" panose="02020603050405020304" pitchFamily="18" charset="0"/>
                <a:cs typeface="Times New Roman" panose="02020603050405020304" pitchFamily="18" charset="0"/>
              </a:rPr>
              <a:t>The elimination of single points of failure enhances system reliability, while low-power operation enables long-term deployment of wearable and sensor devices. </a:t>
            </a:r>
          </a:p>
          <a:p>
            <a:pPr algn="just">
              <a:lnSpc>
                <a:spcPct val="150000"/>
              </a:lnSpc>
              <a:spcAft>
                <a:spcPts val="1000"/>
              </a:spcAft>
              <a:tabLst>
                <a:tab pos="1496060" algn="l"/>
              </a:tabLst>
            </a:pPr>
            <a:r>
              <a:rPr lang="en-GB" sz="1600" dirty="0">
                <a:latin typeface="Times New Roman" panose="02020603050405020304" pitchFamily="18" charset="0"/>
                <a:cs typeface="Times New Roman" panose="02020603050405020304" pitchFamily="18" charset="0"/>
              </a:rPr>
              <a:t>Overall, the proposed system offers a scalable, robust, and secure approach to improving safety and quality monitoring in distributed sewage environments.</a:t>
            </a:r>
            <a:endParaRPr lang="en-GB" sz="1600"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567D4BF-521D-73D4-9D56-F66EF7CCD50F}"/>
              </a:ext>
            </a:extLst>
          </p:cNvPr>
          <p:cNvSpPr>
            <a:spLocks noGrp="1"/>
          </p:cNvSpPr>
          <p:nvPr>
            <p:ph type="sldNum" sz="quarter" idx="12"/>
          </p:nvPr>
        </p:nvSpPr>
        <p:spPr/>
        <p:txBody>
          <a:bodyPr/>
          <a:lstStyle/>
          <a:p>
            <a:fld id="{ED0A4932-3B2E-45C6-B621-E5DE29EAC2DE}" type="slidenum">
              <a:rPr lang="en-IN" smtClean="0"/>
              <a:pPr/>
              <a:t>14</a:t>
            </a:fld>
            <a:endParaRPr lang="en-IN" dirty="0"/>
          </a:p>
        </p:txBody>
      </p:sp>
    </p:spTree>
    <p:extLst>
      <p:ext uri="{BB962C8B-B14F-4D97-AF65-F5344CB8AC3E}">
        <p14:creationId xmlns:p14="http://schemas.microsoft.com/office/powerpoint/2010/main" val="392202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EDB57-9BA5-6BAC-843A-A093E8688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BCFE4-CD4C-C4CE-0D0B-A901C1F816AA}"/>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4A3D008C-EEC0-4D81-3F45-06BD82D7DA7D}"/>
              </a:ext>
            </a:extLst>
          </p:cNvPr>
          <p:cNvSpPr>
            <a:spLocks noGrp="1"/>
          </p:cNvSpPr>
          <p:nvPr>
            <p:ph idx="1"/>
          </p:nvPr>
        </p:nvSpPr>
        <p:spPr>
          <a:xfrm>
            <a:off x="574813" y="1316211"/>
            <a:ext cx="10771212" cy="4720695"/>
          </a:xfrm>
        </p:spPr>
        <p:txBody>
          <a:bodyPr>
            <a:noAutofit/>
          </a:bodyPr>
          <a:lstStyle/>
          <a:p>
            <a:pPr marL="0" indent="0" algn="just">
              <a:lnSpc>
                <a:spcPct val="150000"/>
              </a:lnSpc>
              <a:spcAft>
                <a:spcPts val="1000"/>
              </a:spcAft>
              <a:buNone/>
            </a:pPr>
            <a:r>
              <a:rPr lang="en-US" sz="1600" dirty="0">
                <a:latin typeface="Times New Roman" panose="02020603050405020304" pitchFamily="18" charset="0"/>
                <a:ea typeface="Calibri" panose="020F0502020204030204" pitchFamily="34" charset="0"/>
                <a:cs typeface="Times New Roman" panose="02020603050405020304" pitchFamily="18" charset="0"/>
              </a:rPr>
              <a:t>[1] B. </a:t>
            </a:r>
            <a:r>
              <a:rPr lang="en-US" sz="1600" dirty="0" err="1">
                <a:latin typeface="Times New Roman" panose="02020603050405020304" pitchFamily="18" charset="0"/>
                <a:ea typeface="Calibri" panose="020F0502020204030204" pitchFamily="34" charset="0"/>
                <a:cs typeface="Times New Roman" panose="02020603050405020304" pitchFamily="18" charset="0"/>
              </a:rPr>
              <a:t>Siliverstovs</a:t>
            </a:r>
            <a:r>
              <a:rPr lang="en-US" sz="1600" dirty="0">
                <a:latin typeface="Times New Roman" panose="02020603050405020304" pitchFamily="18" charset="0"/>
                <a:ea typeface="Calibri" panose="020F0502020204030204" pitchFamily="34" charset="0"/>
                <a:cs typeface="Times New Roman" panose="02020603050405020304" pitchFamily="18" charset="0"/>
              </a:rPr>
              <a:t>, D. Herzer, “Manufacturing exports, sewage exports and growth: </a:t>
            </a:r>
            <a:r>
              <a:rPr lang="en-US" sz="1600" dirty="0" err="1">
                <a:latin typeface="Times New Roman" panose="02020603050405020304" pitchFamily="18" charset="0"/>
                <a:ea typeface="Calibri" panose="020F0502020204030204" pitchFamily="34" charset="0"/>
                <a:cs typeface="Times New Roman" panose="02020603050405020304" pitchFamily="18" charset="0"/>
              </a:rPr>
              <a:t>conintegration</a:t>
            </a:r>
            <a:r>
              <a:rPr lang="en-US" sz="1600" dirty="0">
                <a:latin typeface="Times New Roman" panose="02020603050405020304" pitchFamily="18" charset="0"/>
                <a:ea typeface="Calibri" panose="020F0502020204030204" pitchFamily="34" charset="0"/>
                <a:cs typeface="Times New Roman" panose="02020603050405020304" pitchFamily="18" charset="0"/>
              </a:rPr>
              <a:t> and causality analysis for Chile (1960 – 2001)”, Applied Economics, 2007, pp. 153–167. </a:t>
            </a:r>
          </a:p>
          <a:p>
            <a:pPr marL="0" indent="0" algn="just">
              <a:lnSpc>
                <a:spcPct val="150000"/>
              </a:lnSpc>
              <a:spcAft>
                <a:spcPts val="1000"/>
              </a:spcAft>
              <a:buNone/>
            </a:pPr>
            <a:r>
              <a:rPr lang="en-US" sz="1600" dirty="0">
                <a:latin typeface="Times New Roman" panose="02020603050405020304" pitchFamily="18" charset="0"/>
                <a:ea typeface="Calibri" panose="020F0502020204030204" pitchFamily="34" charset="0"/>
                <a:cs typeface="Times New Roman" panose="02020603050405020304" pitchFamily="18" charset="0"/>
              </a:rPr>
              <a:t>[2] “Annual Report of Chilean Sewage 2014”, National Service of Geology and sewage, Chile. ISSN: 0066-5096, 2014. </a:t>
            </a:r>
          </a:p>
          <a:p>
            <a:pPr marL="0" indent="0" algn="just">
              <a:lnSpc>
                <a:spcPct val="150000"/>
              </a:lnSpc>
              <a:spcAft>
                <a:spcPts val="1000"/>
              </a:spcAft>
              <a:buNone/>
            </a:pPr>
            <a:r>
              <a:rPr lang="en-US" sz="1600" dirty="0">
                <a:latin typeface="Times New Roman" panose="02020603050405020304" pitchFamily="18" charset="0"/>
                <a:ea typeface="Calibri" panose="020F0502020204030204" pitchFamily="34" charset="0"/>
                <a:cs typeface="Times New Roman" panose="02020603050405020304" pitchFamily="18" charset="0"/>
              </a:rPr>
              <a:t>[3] D. Jimenez, “High altitude intermittent chronic exposure: Andean miners”, Hypoxia and the Brain, 1995, pp.284-91. </a:t>
            </a:r>
          </a:p>
          <a:p>
            <a:pPr marL="0" indent="0" algn="just">
              <a:lnSpc>
                <a:spcPct val="150000"/>
              </a:lnSpc>
              <a:spcAft>
                <a:spcPts val="1000"/>
              </a:spcAft>
              <a:buNone/>
            </a:pPr>
            <a:r>
              <a:rPr lang="en-US" sz="1600" dirty="0">
                <a:latin typeface="Times New Roman" panose="02020603050405020304" pitchFamily="18" charset="0"/>
                <a:ea typeface="Calibri" panose="020F0502020204030204" pitchFamily="34" charset="0"/>
                <a:cs typeface="Times New Roman" panose="02020603050405020304" pitchFamily="18" charset="0"/>
              </a:rPr>
              <a:t>[4] H.-Y. Chiu, "Early morning awakening and nonrestorative sleep are associated with increased minor non-fatal accidents during work and leisure time", </a:t>
            </a:r>
            <a:r>
              <a:rPr lang="en-US" sz="1600" dirty="0" err="1">
                <a:latin typeface="Times New Roman" panose="02020603050405020304" pitchFamily="18" charset="0"/>
                <a:ea typeface="Calibri" panose="020F0502020204030204" pitchFamily="34" charset="0"/>
                <a:cs typeface="Times New Roman" panose="02020603050405020304" pitchFamily="18" charset="0"/>
              </a:rPr>
              <a:t>Accid</a:t>
            </a:r>
            <a:r>
              <a:rPr lang="en-US" sz="1600" dirty="0">
                <a:latin typeface="Times New Roman" panose="02020603050405020304" pitchFamily="18" charset="0"/>
                <a:ea typeface="Calibri" panose="020F0502020204030204" pitchFamily="34" charset="0"/>
                <a:cs typeface="Times New Roman" panose="02020603050405020304" pitchFamily="18" charset="0"/>
              </a:rPr>
              <a:t>. Anal. Prev., vol. 71C, pp. 10-14, 2014. </a:t>
            </a:r>
          </a:p>
          <a:p>
            <a:pPr marL="0" indent="0" algn="just">
              <a:lnSpc>
                <a:spcPct val="150000"/>
              </a:lnSpc>
              <a:spcAft>
                <a:spcPts val="1000"/>
              </a:spcAft>
              <a:buNone/>
            </a:pPr>
            <a:r>
              <a:rPr lang="en-US" sz="1600" dirty="0">
                <a:latin typeface="Times New Roman" panose="02020603050405020304" pitchFamily="18" charset="0"/>
                <a:ea typeface="Calibri" panose="020F0502020204030204" pitchFamily="34" charset="0"/>
                <a:cs typeface="Times New Roman" panose="02020603050405020304" pitchFamily="18" charset="0"/>
              </a:rPr>
              <a:t>[5] EJ Pino, A Dorner De la Paz, P </a:t>
            </a:r>
            <a:r>
              <a:rPr lang="en-US" sz="1600" dirty="0" err="1">
                <a:latin typeface="Times New Roman" panose="02020603050405020304" pitchFamily="18" charset="0"/>
                <a:ea typeface="Calibri" panose="020F0502020204030204" pitchFamily="34" charset="0"/>
                <a:cs typeface="Times New Roman" panose="02020603050405020304" pitchFamily="18" charset="0"/>
              </a:rPr>
              <a:t>Aqueveque</a:t>
            </a:r>
            <a:r>
              <a:rPr lang="en-US" sz="1600" dirty="0">
                <a:latin typeface="Times New Roman" panose="02020603050405020304" pitchFamily="18" charset="0"/>
                <a:ea typeface="Calibri" panose="020F0502020204030204" pitchFamily="34" charset="0"/>
                <a:cs typeface="Times New Roman" panose="02020603050405020304" pitchFamily="18" charset="0"/>
              </a:rPr>
              <a:t>, “Noninvasive monitoring device to evaluate sleep quality at sewage facilities”, IEEE Transactions on Industry Applications, 51 (1), pp.101-108, 2015. </a:t>
            </a:r>
          </a:p>
          <a:p>
            <a:pPr marL="342900" indent="-342900" algn="just">
              <a:lnSpc>
                <a:spcPct val="150000"/>
              </a:lnSpc>
              <a:buFont typeface="+mj-lt"/>
              <a:buAutoNum type="arabicPeriod"/>
            </a:pPr>
            <a:endParaRPr lang="en-US" sz="18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E701311D-82AC-61FD-58A5-8F73262671D4}"/>
              </a:ext>
            </a:extLst>
          </p:cNvPr>
          <p:cNvSpPr>
            <a:spLocks noGrp="1"/>
          </p:cNvSpPr>
          <p:nvPr>
            <p:ph type="sldNum" sz="quarter" idx="12"/>
          </p:nvPr>
        </p:nvSpPr>
        <p:spPr>
          <a:xfrm>
            <a:off x="9423638" y="6335387"/>
            <a:ext cx="2743200" cy="365125"/>
          </a:xfrm>
        </p:spPr>
        <p:txBody>
          <a:bodyPr/>
          <a:lstStyle/>
          <a:p>
            <a:fld id="{ED0A4932-3B2E-45C6-B621-E5DE29EAC2DE}" type="slidenum">
              <a:rPr lang="en-IN" smtClean="0"/>
              <a:pPr/>
              <a:t>15</a:t>
            </a:fld>
            <a:endParaRPr lang="en-IN" dirty="0"/>
          </a:p>
        </p:txBody>
      </p:sp>
    </p:spTree>
    <p:extLst>
      <p:ext uri="{BB962C8B-B14F-4D97-AF65-F5344CB8AC3E}">
        <p14:creationId xmlns:p14="http://schemas.microsoft.com/office/powerpoint/2010/main" val="3419723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Thank You !</a:t>
            </a:r>
            <a:endParaRPr lang="en-IN" dirty="0"/>
          </a:p>
        </p:txBody>
      </p:sp>
    </p:spTree>
    <p:extLst>
      <p:ext uri="{BB962C8B-B14F-4D97-AF65-F5344CB8AC3E}">
        <p14:creationId xmlns:p14="http://schemas.microsoft.com/office/powerpoint/2010/main" val="2743281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3619</TotalTime>
  <Words>1463</Words>
  <Application>Microsoft Office PowerPoint</Application>
  <PresentationFormat>Widescreen</PresentationFormat>
  <Paragraphs>88</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Symbol</vt:lpstr>
      <vt:lpstr>Times New Roman</vt:lpstr>
      <vt:lpstr>Trebuchet MS</vt:lpstr>
      <vt:lpstr>Wingdings</vt:lpstr>
      <vt:lpstr>Office Theme</vt:lpstr>
      <vt:lpstr>SEWAGE MONITORING SYSTEM</vt:lpstr>
      <vt:lpstr>ABSTRACT</vt:lpstr>
      <vt:lpstr>NOVELTY OF THE PROJECT</vt:lpstr>
      <vt:lpstr>OBJECTIVE</vt:lpstr>
      <vt:lpstr>EXISTING SYSTEM</vt:lpstr>
      <vt:lpstr>DRAWBACKS</vt:lpstr>
      <vt:lpstr>PROPOSED SYSTEM</vt:lpstr>
      <vt:lpstr>ADVANTAGES</vt:lpstr>
      <vt:lpstr>MODULES</vt:lpstr>
      <vt:lpstr>MODULES</vt:lpstr>
      <vt:lpstr>MODULES</vt:lpstr>
      <vt:lpstr>MODULES</vt:lpstr>
      <vt:lpstr>SYSTEM FLOW DIAGRAM</vt:lpstr>
      <vt:lpstr>CONCLUSION</vt:lpstr>
      <vt:lpstr>REFERENCE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M.KATHIRSELVAM</dc:creator>
  <cp:lastModifiedBy>sriatchaya navalar</cp:lastModifiedBy>
  <cp:revision>96</cp:revision>
  <dcterms:created xsi:type="dcterms:W3CDTF">2025-04-10T02:09:38Z</dcterms:created>
  <dcterms:modified xsi:type="dcterms:W3CDTF">2026-05-02T05:57:05Z</dcterms:modified>
</cp:coreProperties>
</file>